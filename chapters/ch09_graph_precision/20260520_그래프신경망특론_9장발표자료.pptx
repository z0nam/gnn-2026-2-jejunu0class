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20" autoAdjust="0"/>
  </p:normalViewPr>
  <p:slideViewPr>
    <p:cSldViewPr snapToGrid="0">
      <p:cViewPr varScale="1">
        <p:scale>
          <a:sx n="148" d="100"/>
          <a:sy n="148" d="100"/>
        </p:scale>
        <p:origin x="2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41FEA-B956-4964-82BC-03B88012881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A4523-2B34-41F8-BF09-8D041143A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57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정밀도 </a:t>
            </a:r>
            <a:r>
              <a:rPr lang="en-US" altLang="ko-KR" dirty="0"/>
              <a:t>= (</a:t>
            </a:r>
            <a:r>
              <a:rPr lang="ko-KR" altLang="en-US" dirty="0"/>
              <a:t>진짜 양성</a:t>
            </a:r>
            <a:r>
              <a:rPr lang="en-US" altLang="ko-KR" dirty="0"/>
              <a:t>) / (</a:t>
            </a:r>
            <a:r>
              <a:rPr lang="ko-KR" altLang="en-US" dirty="0"/>
              <a:t>모델이 양성이라고 한 것 전체</a:t>
            </a:r>
            <a:r>
              <a:rPr lang="en-US" altLang="ko-KR" dirty="0"/>
              <a:t>) = </a:t>
            </a:r>
            <a:r>
              <a:rPr lang="ko-KR" altLang="en-US" dirty="0"/>
              <a:t>모델이 맞다고 한 답 중에서 진짜 맞은 비율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WL </a:t>
            </a:r>
            <a:r>
              <a:rPr lang="ko-KR" altLang="en-US" dirty="0"/>
              <a:t>테스트 </a:t>
            </a:r>
            <a:r>
              <a:rPr lang="en-US" altLang="ko-KR" dirty="0"/>
              <a:t>: </a:t>
            </a:r>
            <a:r>
              <a:rPr lang="ko-KR" altLang="en-US" dirty="0"/>
              <a:t>두 그래프가 같은 모양인지 아닌지 빠르게 판별하는 색칠하기 알고리즘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GNN</a:t>
            </a:r>
            <a:r>
              <a:rPr lang="ko-KR" altLang="en-US" dirty="0"/>
              <a:t>이 두 그래프를 얼마나 잘 구분할 수 있는가</a:t>
            </a:r>
            <a:r>
              <a:rPr lang="en-US" altLang="ko-KR" dirty="0"/>
              <a:t>(= </a:t>
            </a:r>
            <a:r>
              <a:rPr lang="ko-KR" altLang="en-US" dirty="0"/>
              <a:t>표현력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표현력 </a:t>
            </a:r>
            <a:r>
              <a:rPr lang="en-US" altLang="ko-KR" dirty="0"/>
              <a:t>= </a:t>
            </a:r>
            <a:r>
              <a:rPr lang="ko-KR" altLang="en-US" dirty="0"/>
              <a:t>서로 다른 입력을 서로 다르게 구분해낼 수 있는 능력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05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GIN : Graph Isomorphism Network </a:t>
            </a:r>
            <a:r>
              <a:rPr lang="ko-KR" altLang="en-US" dirty="0"/>
              <a:t>그래프 </a:t>
            </a:r>
            <a:r>
              <a:rPr lang="ko-KR" altLang="en-US" dirty="0" err="1"/>
              <a:t>동형성</a:t>
            </a:r>
            <a:r>
              <a:rPr lang="ko-KR" altLang="en-US" dirty="0"/>
              <a:t> 신경망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6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인공 신경망은 함수를 근사하는데 </a:t>
            </a:r>
            <a:r>
              <a:rPr lang="en-US" altLang="ko-KR" dirty="0"/>
              <a:t>= ‘</a:t>
            </a:r>
            <a:r>
              <a:rPr lang="ko-KR" altLang="en-US" dirty="0"/>
              <a:t>비슷한 함수를 찾아내는데</a:t>
            </a:r>
            <a:r>
              <a:rPr lang="en-US" altLang="ko-KR" dirty="0"/>
              <a:t>’</a:t>
            </a:r>
            <a:r>
              <a:rPr lang="ko-KR" altLang="en-US" dirty="0"/>
              <a:t>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히든</a:t>
            </a:r>
            <a:r>
              <a:rPr lang="ko-KR" altLang="en-US" dirty="0"/>
              <a:t> 레이어</a:t>
            </a:r>
            <a:r>
              <a:rPr lang="en-US" altLang="ko-KR" dirty="0"/>
              <a:t>(</a:t>
            </a:r>
            <a:r>
              <a:rPr lang="ko-KR" altLang="en-US" dirty="0" err="1"/>
              <a:t>은닉층</a:t>
            </a:r>
            <a:r>
              <a:rPr lang="en-US" altLang="ko-KR" dirty="0"/>
              <a:t>)</a:t>
            </a:r>
            <a:r>
              <a:rPr lang="ko-KR" altLang="en-US" dirty="0"/>
              <a:t>가 단 하나만 있는 신경망이라도</a:t>
            </a:r>
            <a:r>
              <a:rPr lang="en-US" altLang="ko-KR" dirty="0"/>
              <a:t>, </a:t>
            </a:r>
            <a:r>
              <a:rPr lang="ko-KR" altLang="en-US" dirty="0"/>
              <a:t>충분한 뉴런을 가지면 어떤 부드러운 </a:t>
            </a:r>
            <a:r>
              <a:rPr lang="ko-KR" altLang="en-US" dirty="0" err="1"/>
              <a:t>함수든</a:t>
            </a:r>
            <a:r>
              <a:rPr lang="ko-KR" altLang="en-US" dirty="0"/>
              <a:t> 원하는 만큼 정확하게 </a:t>
            </a:r>
            <a:r>
              <a:rPr lang="ko-KR" altLang="en-US" dirty="0" err="1"/>
              <a:t>흉내낼</a:t>
            </a:r>
            <a:r>
              <a:rPr lang="ko-KR" altLang="en-US" dirty="0"/>
              <a:t> 수 있다</a:t>
            </a:r>
            <a:endParaRPr lang="en-US" altLang="ko-KR" dirty="0"/>
          </a:p>
          <a:p>
            <a:r>
              <a:rPr lang="ko-KR" altLang="en-US" dirty="0"/>
              <a:t>레이어 </a:t>
            </a:r>
            <a:r>
              <a:rPr lang="ko-KR" altLang="en-US" dirty="0" err="1"/>
              <a:t>하나짜리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은닉층이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보통 </a:t>
            </a:r>
            <a:r>
              <a:rPr lang="ko-KR" altLang="en-US" dirty="0" err="1"/>
              <a:t>딥러닝은</a:t>
            </a:r>
            <a:r>
              <a:rPr lang="ko-KR" altLang="en-US" dirty="0"/>
              <a:t> 은닉층을 수십</a:t>
            </a:r>
            <a:r>
              <a:rPr lang="en-US" altLang="ko-KR" dirty="0"/>
              <a:t>, </a:t>
            </a:r>
            <a:r>
              <a:rPr lang="ko-KR" altLang="en-US" dirty="0" err="1"/>
              <a:t>수백개</a:t>
            </a:r>
            <a:r>
              <a:rPr lang="ko-KR" altLang="en-US" dirty="0"/>
              <a:t> 쌓음</a:t>
            </a:r>
            <a:endParaRPr lang="en-US" altLang="ko-KR" dirty="0"/>
          </a:p>
          <a:p>
            <a:r>
              <a:rPr lang="ko-KR" altLang="en-US" dirty="0" err="1"/>
              <a:t>피드포워드</a:t>
            </a:r>
            <a:r>
              <a:rPr lang="ko-KR" altLang="en-US" dirty="0"/>
              <a:t> 신경망 </a:t>
            </a:r>
            <a:r>
              <a:rPr lang="en-US" altLang="ko-KR" dirty="0"/>
              <a:t>: </a:t>
            </a:r>
            <a:r>
              <a:rPr lang="ko-KR" altLang="en-US" dirty="0"/>
              <a:t>정보가 앞으로만 흘러가는 가장 기본적인 형태의 신경망 </a:t>
            </a:r>
            <a:r>
              <a:rPr lang="en-US" altLang="ko-KR" dirty="0"/>
              <a:t>/ </a:t>
            </a:r>
            <a:r>
              <a:rPr lang="ko-KR" altLang="en-US" dirty="0"/>
              <a:t>입력 </a:t>
            </a:r>
            <a:r>
              <a:rPr lang="en-US" altLang="ko-KR" dirty="0"/>
              <a:t>– </a:t>
            </a:r>
            <a:r>
              <a:rPr lang="ko-KR" altLang="en-US" dirty="0" err="1"/>
              <a:t>은닉층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출력</a:t>
            </a:r>
            <a:endParaRPr lang="en-US" altLang="ko-KR" dirty="0"/>
          </a:p>
          <a:p>
            <a:r>
              <a:rPr lang="ko-KR" altLang="en-US" dirty="0"/>
              <a:t>부드러운 함수 </a:t>
            </a:r>
            <a:r>
              <a:rPr lang="en-US" altLang="ko-KR" dirty="0"/>
              <a:t>: </a:t>
            </a:r>
            <a:r>
              <a:rPr lang="ko-KR" altLang="en-US" dirty="0"/>
              <a:t>갑자기 뚝 끊기거나 튀지 않는 함수</a:t>
            </a:r>
            <a:r>
              <a:rPr lang="en-US" altLang="ko-KR" dirty="0"/>
              <a:t>. </a:t>
            </a:r>
            <a:r>
              <a:rPr lang="ko-KR" altLang="en-US" dirty="0"/>
              <a:t>그래프로 그렸을 때 매끄럽게 이어지는 곡선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노드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노드를 숫자 벡터로 표현한 것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그래프 데이터에는 앞서의 이론이 그대로 적용되지 않음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45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7AF7-5622-1758-AD70-7F9BA49B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3ED19A-601D-2915-D298-FF6DDAD6B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4A27C9-4151-3B7B-CB4C-AB7A90169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동형 그래프 </a:t>
            </a:r>
            <a:r>
              <a:rPr lang="en-US" altLang="ko-KR" dirty="0"/>
              <a:t>: </a:t>
            </a:r>
            <a:r>
              <a:rPr lang="ko-KR" altLang="en-US" dirty="0"/>
              <a:t>같은 그래프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그림 </a:t>
            </a:r>
            <a:r>
              <a:rPr lang="en-US" altLang="ko-KR" dirty="0"/>
              <a:t>9.1 : </a:t>
            </a:r>
            <a:r>
              <a:rPr lang="ko-KR" altLang="en-US" dirty="0"/>
              <a:t>그래프에서 중요한 건 점을 어디에 </a:t>
            </a:r>
            <a:r>
              <a:rPr lang="ko-KR" altLang="en-US" dirty="0" err="1"/>
              <a:t>그렸는가가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어떤 점이 어떤 점과 연결되어 있는가</a:t>
            </a:r>
            <a:endParaRPr lang="en-US" altLang="ko-KR" dirty="0"/>
          </a:p>
          <a:p>
            <a:r>
              <a:rPr lang="ko-KR" altLang="en-US" dirty="0"/>
              <a:t>점이 </a:t>
            </a:r>
            <a:r>
              <a:rPr lang="en-US" altLang="ko-KR" dirty="0"/>
              <a:t>5</a:t>
            </a:r>
            <a:r>
              <a:rPr lang="ko-KR" altLang="en-US" dirty="0"/>
              <a:t>개면 동형이 확인되는데</a:t>
            </a:r>
            <a:r>
              <a:rPr lang="en-US" altLang="ko-KR" dirty="0"/>
              <a:t> </a:t>
            </a:r>
            <a:r>
              <a:rPr lang="ko-KR" altLang="en-US" dirty="0"/>
              <a:t>점이 </a:t>
            </a:r>
            <a:r>
              <a:rPr lang="en-US" altLang="ko-KR" dirty="0"/>
              <a:t>100</a:t>
            </a:r>
            <a:r>
              <a:rPr lang="ko-KR" altLang="en-US" dirty="0"/>
              <a:t>개</a:t>
            </a:r>
            <a:r>
              <a:rPr lang="en-US" altLang="ko-KR" dirty="0"/>
              <a:t>, 1000</a:t>
            </a:r>
            <a:r>
              <a:rPr lang="ko-KR" altLang="en-US" dirty="0"/>
              <a:t>개면 눈으로 판단이 어려움 </a:t>
            </a:r>
            <a:r>
              <a:rPr lang="en-US" altLang="ko-KR" dirty="0"/>
              <a:t>–</a:t>
            </a:r>
            <a:r>
              <a:rPr lang="ko-KR" altLang="en-US" dirty="0"/>
              <a:t> 실제로 두 그래프가 정말 같은 구조인지 알아내는 문제 </a:t>
            </a:r>
            <a:r>
              <a:rPr lang="en-US" altLang="ko-KR" dirty="0"/>
              <a:t>– </a:t>
            </a:r>
            <a:r>
              <a:rPr lang="ko-KR" altLang="en-US" dirty="0"/>
              <a:t>그나마 빠르게 해결하기 위해 </a:t>
            </a:r>
            <a:r>
              <a:rPr lang="en-US" altLang="ko-KR" dirty="0"/>
              <a:t>WL</a:t>
            </a:r>
            <a:r>
              <a:rPr lang="ko-KR" altLang="en-US" dirty="0"/>
              <a:t>테스트 등장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그래프의 정규 형태를 구축 </a:t>
            </a:r>
            <a:r>
              <a:rPr lang="en-US" altLang="ko-KR" dirty="0"/>
              <a:t>: </a:t>
            </a:r>
            <a:r>
              <a:rPr lang="ko-KR" altLang="en-US" dirty="0"/>
              <a:t>각각의 그래프마다 고유한 지문</a:t>
            </a:r>
            <a:r>
              <a:rPr lang="en-US" altLang="ko-KR" dirty="0"/>
              <a:t>(=</a:t>
            </a:r>
            <a:r>
              <a:rPr lang="ko-KR" altLang="en-US" dirty="0"/>
              <a:t>정규형태</a:t>
            </a:r>
            <a:r>
              <a:rPr lang="en-US" altLang="ko-KR" dirty="0"/>
              <a:t>)</a:t>
            </a:r>
            <a:r>
              <a:rPr lang="ko-KR" altLang="en-US" dirty="0"/>
              <a:t> 같은 걸 만들어서</a:t>
            </a:r>
            <a:r>
              <a:rPr lang="en-US" altLang="ko-KR" dirty="0"/>
              <a:t>, </a:t>
            </a:r>
            <a:r>
              <a:rPr lang="ko-KR" altLang="en-US" dirty="0"/>
              <a:t>지문으로 그래프의 동형 여부를 비교하기 위함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BF661E-D009-E1BC-41A5-5A6EBEC9B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1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B3BB-B78B-4A58-3CF8-4E8688AA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AA7E8-69C9-729A-2C91-D93534F06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E870F9-ECD8-1FC8-57AA-F99CF7918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WL</a:t>
            </a:r>
            <a:r>
              <a:rPr lang="ko-KR" altLang="en-US" dirty="0"/>
              <a:t> 테스트 동작 방식</a:t>
            </a:r>
            <a:endParaRPr lang="en-US" altLang="ko-KR" dirty="0"/>
          </a:p>
          <a:p>
            <a:r>
              <a:rPr lang="ko-KR" altLang="en-US" dirty="0"/>
              <a:t>그림 </a:t>
            </a:r>
            <a:r>
              <a:rPr lang="en-US" altLang="ko-KR" dirty="0"/>
              <a:t>9.2 : </a:t>
            </a:r>
            <a:r>
              <a:rPr lang="en-US" altLang="ko-KR" dirty="0" err="1"/>
              <a:t>i</a:t>
            </a:r>
            <a:r>
              <a:rPr lang="en-US" altLang="ko-KR" dirty="0"/>
              <a:t>=0 </a:t>
            </a:r>
            <a:r>
              <a:rPr lang="ko-KR" altLang="en-US" dirty="0" err="1"/>
              <a:t>일때</a:t>
            </a:r>
            <a:r>
              <a:rPr lang="ko-KR" altLang="en-US" dirty="0"/>
              <a:t> 처음에 받은 색상 </a:t>
            </a:r>
            <a:r>
              <a:rPr lang="en-US" altLang="ko-KR" dirty="0"/>
              <a:t>A, B</a:t>
            </a:r>
          </a:p>
          <a:p>
            <a:r>
              <a:rPr lang="ko-KR" altLang="en-US" dirty="0"/>
              <a:t>해시함수 </a:t>
            </a:r>
            <a:r>
              <a:rPr lang="en-US" altLang="ko-KR" dirty="0"/>
              <a:t>: </a:t>
            </a:r>
            <a:r>
              <a:rPr lang="ko-KR" altLang="en-US" dirty="0"/>
              <a:t>입력이 다르면 출력도 다르게 만들어주는 함수</a:t>
            </a:r>
            <a:endParaRPr lang="en-US" altLang="ko-KR" dirty="0"/>
          </a:p>
          <a:p>
            <a:r>
              <a:rPr lang="en-US" altLang="ko-KR" dirty="0" err="1"/>
              <a:t>i</a:t>
            </a:r>
            <a:r>
              <a:rPr lang="en-US" altLang="ko-KR" dirty="0"/>
              <a:t>=1 </a:t>
            </a:r>
            <a:r>
              <a:rPr lang="ko-KR" altLang="en-US" dirty="0"/>
              <a:t>해시 </a:t>
            </a:r>
            <a:r>
              <a:rPr lang="en-US" altLang="ko-KR" dirty="0"/>
              <a:t>1</a:t>
            </a:r>
            <a:r>
              <a:rPr lang="ko-KR" altLang="en-US" dirty="0"/>
              <a:t>번 돌린 이후</a:t>
            </a:r>
            <a:r>
              <a:rPr lang="en-US" altLang="ko-KR" dirty="0"/>
              <a:t>, </a:t>
            </a:r>
            <a:r>
              <a:rPr lang="ko-KR" altLang="en-US" dirty="0"/>
              <a:t>각 노드가 개별적으로 본인 색상과 이웃 색상을 집계하고 결과에 따라 새로운 색상을 </a:t>
            </a:r>
            <a:r>
              <a:rPr lang="en-US" altLang="ko-KR" dirty="0"/>
              <a:t>1</a:t>
            </a:r>
            <a:r>
              <a:rPr lang="ko-KR" altLang="en-US" dirty="0"/>
              <a:t>차 생성 </a:t>
            </a:r>
            <a:r>
              <a:rPr lang="en-US" altLang="ko-KR" dirty="0"/>
              <a:t>C~E</a:t>
            </a:r>
          </a:p>
          <a:p>
            <a:r>
              <a:rPr lang="en-US" altLang="ko-KR" dirty="0" err="1"/>
              <a:t>i</a:t>
            </a:r>
            <a:r>
              <a:rPr lang="en-US" altLang="ko-KR" dirty="0"/>
              <a:t>=2 </a:t>
            </a:r>
            <a:r>
              <a:rPr lang="ko-KR" altLang="en-US" dirty="0"/>
              <a:t>해시 한번 더 돌려서 </a:t>
            </a:r>
            <a:r>
              <a:rPr lang="en-US" altLang="ko-KR" dirty="0"/>
              <a:t>F~I </a:t>
            </a:r>
            <a:r>
              <a:rPr lang="ko-KR" altLang="en-US" dirty="0"/>
              <a:t>생성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8A53D-0E06-B7E7-0DE2-639BC8EFF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30DA-0596-D4EA-0C7A-9E14808C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F77758-C8C8-119C-A1D0-8F7E3BE56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14D652-B323-765E-077B-2BE07DFC6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그래프의 색깔 목록이 다르면 → 확실히 동형이 아님</a:t>
            </a:r>
          </a:p>
          <a:p>
            <a:r>
              <a:rPr lang="ko-KR" altLang="en-US" dirty="0"/>
              <a:t>두 그래프의 색깔 목록이 같으면 → 동형일 가능성은 있지만 </a:t>
            </a:r>
            <a:r>
              <a:rPr lang="en-US" altLang="ko-KR" dirty="0"/>
              <a:t>100% </a:t>
            </a:r>
            <a:r>
              <a:rPr lang="ko-KR" altLang="en-US" dirty="0"/>
              <a:t>확신은 못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평균 </a:t>
            </a:r>
            <a:r>
              <a:rPr lang="ko-KR" altLang="en-US" dirty="0" err="1"/>
              <a:t>집계기</a:t>
            </a:r>
            <a:r>
              <a:rPr lang="ko-KR" altLang="en-US" dirty="0"/>
              <a:t> </a:t>
            </a:r>
            <a:r>
              <a:rPr lang="en-US" altLang="ko-KR" dirty="0"/>
              <a:t>/ 1</a:t>
            </a:r>
            <a:r>
              <a:rPr lang="ko-KR" altLang="en-US" dirty="0"/>
              <a:t>파랑 </a:t>
            </a:r>
            <a:r>
              <a:rPr lang="en-US" altLang="ko-KR" dirty="0"/>
              <a:t>1</a:t>
            </a:r>
            <a:r>
              <a:rPr lang="ko-KR" altLang="en-US" dirty="0"/>
              <a:t>빨강 </a:t>
            </a:r>
            <a:r>
              <a:rPr lang="en-US" altLang="ko-KR" dirty="0"/>
              <a:t>– 10</a:t>
            </a:r>
            <a:r>
              <a:rPr lang="ko-KR" altLang="en-US" dirty="0"/>
              <a:t>파랑 </a:t>
            </a:r>
            <a:r>
              <a:rPr lang="en-US" altLang="ko-KR" dirty="0"/>
              <a:t>10</a:t>
            </a:r>
            <a:r>
              <a:rPr lang="ko-KR" altLang="en-US" dirty="0"/>
              <a:t>빨강이 동일함</a:t>
            </a:r>
            <a:endParaRPr lang="en-US" altLang="ko-KR" dirty="0"/>
          </a:p>
          <a:p>
            <a:r>
              <a:rPr lang="ko-KR" altLang="en-US" dirty="0"/>
              <a:t>최대 </a:t>
            </a:r>
            <a:r>
              <a:rPr lang="ko-KR" altLang="en-US" dirty="0" err="1"/>
              <a:t>집계기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파랑 빨강 중 하나만 표시되므로 절반이 무시됨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325870-3758-9F28-2B67-E19EE7DAD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636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393D-0C7B-3B05-ABD5-5899CFDF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EBD558-B347-4694-C074-24085D1D2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B9188-1F61-F569-D45B-38A9DA1FF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표현력이 강하다 </a:t>
            </a:r>
            <a:r>
              <a:rPr lang="en-US" altLang="ko-KR" dirty="0"/>
              <a:t>= </a:t>
            </a:r>
            <a:r>
              <a:rPr lang="ko-KR" altLang="en-US" dirty="0"/>
              <a:t>미묘하게 다른 그래프도 잘 구분함</a:t>
            </a:r>
            <a:endParaRPr lang="en-US" altLang="ko-KR" dirty="0"/>
          </a:p>
          <a:p>
            <a:r>
              <a:rPr lang="ko-KR" altLang="en-US" dirty="0"/>
              <a:t>표현력이 약하다 </a:t>
            </a:r>
            <a:r>
              <a:rPr lang="en-US" altLang="ko-KR" dirty="0"/>
              <a:t>= </a:t>
            </a:r>
            <a:r>
              <a:rPr lang="ko-KR" altLang="en-US" dirty="0"/>
              <a:t>다른 </a:t>
            </a:r>
            <a:r>
              <a:rPr lang="ko-KR" altLang="en-US" dirty="0" err="1"/>
              <a:t>그래프인데도</a:t>
            </a:r>
            <a:r>
              <a:rPr lang="ko-KR" altLang="en-US" dirty="0"/>
              <a:t> 같다고 착각함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en-US" altLang="ko-KR" dirty="0"/>
              <a:t>GNN</a:t>
            </a:r>
            <a:r>
              <a:rPr lang="ko-KR" altLang="en-US" dirty="0"/>
              <a:t>의 최종 결과물은 </a:t>
            </a:r>
            <a:r>
              <a:rPr lang="ko-KR" altLang="en-US" b="1" dirty="0" err="1"/>
              <a:t>임베딩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en-US" altLang="ko-KR" dirty="0"/>
              <a:t> </a:t>
            </a:r>
            <a:r>
              <a:rPr lang="ko-KR" altLang="en-US" dirty="0"/>
              <a:t>각 노드</a:t>
            </a:r>
            <a:r>
              <a:rPr lang="en-US" altLang="ko-KR" dirty="0"/>
              <a:t>(</a:t>
            </a:r>
            <a:r>
              <a:rPr lang="ko-KR" altLang="en-US" dirty="0"/>
              <a:t>또는 그래프 전체</a:t>
            </a:r>
            <a:r>
              <a:rPr lang="en-US" altLang="ko-KR" dirty="0"/>
              <a:t>)</a:t>
            </a:r>
            <a:r>
              <a:rPr lang="ko-KR" altLang="en-US" dirty="0"/>
              <a:t>를 숫자 벡터로 표현</a:t>
            </a:r>
            <a:endParaRPr lang="en-US" altLang="ko-KR" dirty="0"/>
          </a:p>
          <a:p>
            <a:r>
              <a:rPr lang="ko-KR" altLang="en-US" dirty="0"/>
              <a:t>명백히 다른 두 그래프인데</a:t>
            </a:r>
            <a:r>
              <a:rPr lang="en-US" altLang="ko-KR" dirty="0"/>
              <a:t>, GNN</a:t>
            </a:r>
            <a:r>
              <a:rPr lang="ko-KR" altLang="en-US" dirty="0"/>
              <a:t>이 똑같은 </a:t>
            </a:r>
            <a:r>
              <a:rPr lang="ko-KR" altLang="en-US" dirty="0" err="1"/>
              <a:t>임베딩을</a:t>
            </a:r>
            <a:r>
              <a:rPr lang="ko-KR" altLang="en-US" dirty="0"/>
              <a:t> 내놓는 사태가 발생 </a:t>
            </a:r>
            <a:r>
              <a:rPr lang="en-US" altLang="ko-KR" dirty="0"/>
              <a:t>– </a:t>
            </a:r>
            <a:r>
              <a:rPr lang="ko-KR" altLang="en-US" dirty="0"/>
              <a:t>품질이 낮다</a:t>
            </a:r>
            <a:endParaRPr lang="en-US" altLang="ko-KR" dirty="0"/>
          </a:p>
          <a:p>
            <a:r>
              <a:rPr lang="en-US" altLang="ko-KR" dirty="0"/>
              <a:t>GNN</a:t>
            </a:r>
            <a:r>
              <a:rPr lang="ko-KR" altLang="en-US" dirty="0"/>
              <a:t>의 표현력을 </a:t>
            </a:r>
            <a:r>
              <a:rPr lang="en-US" altLang="ko-KR" dirty="0"/>
              <a:t>WL </a:t>
            </a:r>
            <a:r>
              <a:rPr lang="ko-KR" altLang="en-US" dirty="0"/>
              <a:t>테스트 수준까지 끌어올리기 위함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GIN : Graph Isomorphism Network </a:t>
            </a:r>
            <a:r>
              <a:rPr lang="ko-KR" altLang="en-US" dirty="0"/>
              <a:t>그래프 </a:t>
            </a:r>
            <a:r>
              <a:rPr lang="ko-KR" altLang="en-US" dirty="0" err="1"/>
              <a:t>동형성</a:t>
            </a:r>
            <a:r>
              <a:rPr lang="ko-KR" altLang="en-US" dirty="0"/>
              <a:t> 신경망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en-US" altLang="ko-KR" dirty="0"/>
              <a:t>h</a:t>
            </a:r>
            <a:r>
              <a:rPr lang="en-US" altLang="ko-KR" dirty="0">
                <a:effectLst/>
              </a:rPr>
              <a:t>i</a:t>
            </a:r>
            <a:r>
              <a:rPr lang="ko-KR" altLang="en-US" dirty="0"/>
              <a:t>​ </a:t>
            </a:r>
            <a:r>
              <a:rPr lang="en-US" altLang="ko-KR" dirty="0" err="1"/>
              <a:t>i</a:t>
            </a:r>
            <a:r>
              <a:rPr lang="ko-KR" altLang="en-US" dirty="0"/>
              <a:t>번째 노드의 </a:t>
            </a:r>
            <a:r>
              <a:rPr lang="ko-KR" altLang="en-US" b="1" dirty="0"/>
              <a:t>현재 </a:t>
            </a:r>
            <a:r>
              <a:rPr lang="ko-KR" altLang="en-US" b="1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지금 가지고 있는 정보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h</a:t>
            </a:r>
            <a:r>
              <a:rPr lang="en-US" altLang="ko-KR" dirty="0">
                <a:effectLst/>
              </a:rPr>
              <a:t>i′</a:t>
            </a:r>
            <a:r>
              <a:rPr lang="ko-KR" altLang="en-US" dirty="0"/>
              <a:t>​ </a:t>
            </a:r>
            <a:r>
              <a:rPr lang="en-US" altLang="ko-KR" dirty="0" err="1"/>
              <a:t>i</a:t>
            </a:r>
            <a:r>
              <a:rPr lang="ko-KR" altLang="en-US" dirty="0"/>
              <a:t>번째 노드의 </a:t>
            </a:r>
            <a:r>
              <a:rPr lang="ko-KR" altLang="en-US" b="1" dirty="0"/>
              <a:t>새로운 </a:t>
            </a:r>
            <a:r>
              <a:rPr lang="ko-KR" altLang="en-US" b="1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업데이트된 정보</a:t>
            </a:r>
            <a:r>
              <a:rPr lang="en-US" altLang="ko-KR" dirty="0"/>
              <a:t>, </a:t>
            </a:r>
            <a:r>
              <a:rPr lang="ko-KR" altLang="en-US" dirty="0"/>
              <a:t>작은따옴표는 </a:t>
            </a:r>
            <a:r>
              <a:rPr lang="en-US" altLang="ko-KR" dirty="0"/>
              <a:t>"</a:t>
            </a:r>
            <a:r>
              <a:rPr lang="ko-KR" altLang="en-US" dirty="0"/>
              <a:t>새 버전</a:t>
            </a:r>
            <a:r>
              <a:rPr lang="en-US" altLang="ko-KR" dirty="0"/>
              <a:t>"</a:t>
            </a:r>
            <a:r>
              <a:rPr lang="ko-KR" altLang="en-US" dirty="0"/>
              <a:t>이라는 뜻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effectLst/>
              </a:rPr>
              <a:t>Ni</a:t>
            </a:r>
            <a:r>
              <a:rPr lang="ko-KR" altLang="en-US" dirty="0"/>
              <a:t>​ </a:t>
            </a:r>
            <a:r>
              <a:rPr lang="en-US" altLang="ko-KR" dirty="0" err="1"/>
              <a:t>i</a:t>
            </a:r>
            <a:r>
              <a:rPr lang="ko-KR" altLang="en-US" dirty="0"/>
              <a:t>번째 노드의 </a:t>
            </a:r>
            <a:r>
              <a:rPr lang="ko-KR" altLang="en-US" b="1" dirty="0"/>
              <a:t>이웃 노드들의 집합</a:t>
            </a:r>
            <a:r>
              <a:rPr lang="ko-KR" altLang="en-US" dirty="0"/>
              <a:t> </a:t>
            </a:r>
            <a:r>
              <a:rPr lang="en-US" altLang="ko-KR" dirty="0"/>
              <a:t>(N</a:t>
            </a:r>
            <a:r>
              <a:rPr lang="ko-KR" altLang="en-US" dirty="0"/>
              <a:t>은 </a:t>
            </a:r>
            <a:r>
              <a:rPr lang="en-US" altLang="ko-KR" dirty="0"/>
              <a:t>Neighbor</a:t>
            </a:r>
            <a:r>
              <a:rPr lang="ko-KR" altLang="en-US" dirty="0"/>
              <a:t>의 </a:t>
            </a:r>
            <a:r>
              <a:rPr lang="en-US" altLang="ko-KR" dirty="0"/>
              <a:t>N)</a:t>
            </a:r>
          </a:p>
          <a:p>
            <a:r>
              <a:rPr lang="en-US" altLang="ko-KR" dirty="0">
                <a:effectLst/>
              </a:rPr>
              <a:t>j</a:t>
            </a:r>
            <a:r>
              <a:rPr lang="ko-KR" altLang="en-US" dirty="0"/>
              <a:t>∈</a:t>
            </a:r>
            <a:r>
              <a:rPr lang="en-US" altLang="ko-KR" dirty="0">
                <a:effectLst/>
              </a:rPr>
              <a:t>Ni</a:t>
            </a:r>
            <a:r>
              <a:rPr lang="ko-KR" altLang="en-US" dirty="0"/>
              <a:t>​ </a:t>
            </a:r>
            <a:r>
              <a:rPr lang="en-US" altLang="ko-KR" dirty="0"/>
              <a:t>“j</a:t>
            </a:r>
            <a:r>
              <a:rPr lang="ko-KR" altLang="en-US" dirty="0"/>
              <a:t>는 </a:t>
            </a:r>
            <a:r>
              <a:rPr lang="en-US" altLang="ko-KR" dirty="0" err="1"/>
              <a:t>i</a:t>
            </a:r>
            <a:r>
              <a:rPr lang="ko-KR" altLang="en-US" dirty="0"/>
              <a:t>의 이웃이다</a:t>
            </a:r>
            <a:r>
              <a:rPr lang="en-US" altLang="ko-KR" dirty="0"/>
              <a:t>“</a:t>
            </a:r>
          </a:p>
          <a:p>
            <a:r>
              <a:rPr lang="en-US" altLang="ko-KR" dirty="0" err="1"/>
              <a:t>h</a:t>
            </a:r>
            <a:r>
              <a:rPr lang="en-US" altLang="ko-KR" dirty="0" err="1">
                <a:effectLst/>
              </a:rPr>
              <a:t>j</a:t>
            </a:r>
            <a:r>
              <a:rPr lang="ko-KR" altLang="en-US" dirty="0"/>
              <a:t>​ </a:t>
            </a:r>
            <a:r>
              <a:rPr lang="en-US" altLang="ko-KR" dirty="0" err="1"/>
              <a:t>i</a:t>
            </a:r>
            <a:r>
              <a:rPr lang="ko-KR" altLang="en-US" dirty="0"/>
              <a:t>의 이웃 </a:t>
            </a:r>
            <a:r>
              <a:rPr lang="en-US" altLang="ko-KR" dirty="0"/>
              <a:t>j</a:t>
            </a:r>
            <a:r>
              <a:rPr lang="ko-KR" altLang="en-US" dirty="0"/>
              <a:t>가 가진 </a:t>
            </a:r>
            <a:r>
              <a:rPr lang="ko-KR" altLang="en-US" dirty="0" err="1"/>
              <a:t>임베딩</a:t>
            </a:r>
            <a:endParaRPr lang="en-US" altLang="ko-KR" dirty="0"/>
          </a:p>
          <a:p>
            <a:r>
              <a:rPr lang="en-US" altLang="ko-KR" dirty="0">
                <a:effectLst/>
              </a:rPr>
              <a:t>f </a:t>
            </a:r>
            <a:r>
              <a:rPr lang="ko-KR" altLang="en-US" dirty="0"/>
              <a:t>집계 함수</a:t>
            </a:r>
            <a:endParaRPr lang="en-US" altLang="ko-KR" dirty="0"/>
          </a:p>
          <a:p>
            <a:r>
              <a:rPr lang="el-GR" altLang="ko-KR" dirty="0"/>
              <a:t>Φ</a:t>
            </a:r>
            <a:r>
              <a:rPr lang="en-US" altLang="ko-KR" dirty="0"/>
              <a:t> </a:t>
            </a:r>
            <a:r>
              <a:rPr lang="ko-KR" altLang="en-US" dirty="0"/>
              <a:t>결합 함수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i</a:t>
            </a:r>
            <a:r>
              <a:rPr lang="ko-KR" altLang="en-US" dirty="0"/>
              <a:t>의 이웃 </a:t>
            </a:r>
            <a:r>
              <a:rPr lang="en-US" altLang="ko-KR" dirty="0"/>
              <a:t>j </a:t>
            </a:r>
            <a:r>
              <a:rPr lang="ko-KR" altLang="en-US" dirty="0"/>
              <a:t>모두에 대해 </a:t>
            </a:r>
            <a:r>
              <a:rPr lang="en-US" altLang="ko-KR" dirty="0" err="1"/>
              <a:t>h_j</a:t>
            </a:r>
            <a:r>
              <a:rPr lang="ko-KR" altLang="en-US" dirty="0"/>
              <a:t>를 모은 집합을 집계함수에 돌리고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자기 자신의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 err="1"/>
              <a:t>h_i</a:t>
            </a:r>
            <a:r>
              <a:rPr lang="ko-KR" altLang="en-US" dirty="0"/>
              <a:t>와 집계함수 결과를 결합함수로 돌려서 새 </a:t>
            </a:r>
            <a:r>
              <a:rPr lang="ko-KR" altLang="en-US" dirty="0" err="1"/>
              <a:t>임베딩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8DFF0-0CFF-458A-C78A-5F66A1106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60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B7A61-C7BA-5F74-63D5-978B9AEA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889B6-2C63-45F8-2C38-C39549CB4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CF94C8-8585-8AE0-8235-3B40888D3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이웃 샘플링 </a:t>
            </a:r>
            <a:r>
              <a:rPr lang="en-US" altLang="ko-KR" b="0" dirty="0"/>
              <a:t>: GCN</a:t>
            </a:r>
            <a:r>
              <a:rPr lang="ko-KR" altLang="en-US" b="0" dirty="0"/>
              <a:t> 처럼 모든 이웃 고려하지 않고 일부만 </a:t>
            </a:r>
            <a:r>
              <a:rPr lang="ko-KR" altLang="en-US" b="0" dirty="0" err="1"/>
              <a:t>샘플링하여</a:t>
            </a:r>
            <a:r>
              <a:rPr lang="ko-KR" altLang="en-US" b="0" dirty="0"/>
              <a:t> 집계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b="0" dirty="0"/>
              <a:t>LSTM(Long Short-Term Memory)</a:t>
            </a:r>
            <a:r>
              <a:rPr lang="ko-KR" altLang="en-US" b="0" dirty="0"/>
              <a:t> 은 </a:t>
            </a:r>
            <a:r>
              <a:rPr lang="en-US" altLang="ko-KR" b="0" dirty="0"/>
              <a:t>"</a:t>
            </a:r>
            <a:r>
              <a:rPr lang="ko-KR" altLang="en-US" b="0" dirty="0"/>
              <a:t>순서가 있는 데이터를 처리하면서</a:t>
            </a:r>
            <a:r>
              <a:rPr lang="en-US" altLang="ko-KR" b="0" dirty="0"/>
              <a:t>, </a:t>
            </a:r>
            <a:r>
              <a:rPr lang="ko-KR" altLang="en-US" b="0" dirty="0"/>
              <a:t>중요한 정보는 오래 기억하고 불필요한 정보는 잊는</a:t>
            </a:r>
            <a:r>
              <a:rPr lang="en-US" altLang="ko-KR" b="0" dirty="0"/>
              <a:t>"</a:t>
            </a:r>
            <a:r>
              <a:rPr lang="ko-KR" altLang="en-US" b="0" dirty="0"/>
              <a:t> 특별한 신경망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단사함수 </a:t>
            </a:r>
            <a:r>
              <a:rPr lang="en-US" altLang="ko-KR" b="0" dirty="0"/>
              <a:t>: </a:t>
            </a:r>
            <a:r>
              <a:rPr lang="ko-KR" altLang="en-US" b="0" dirty="0"/>
              <a:t>서로 다른 입력은 반드시 서로 다른 출력을 만들어내는 함수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C90CA2-833C-4E8B-0FBD-1FD35D69E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141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333C-D88C-F905-FFA7-A81C421F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B4C564-D3B6-B0FD-0746-7470F91BA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D14A2C-39CC-9B48-E387-DD0B19171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안쪽은 모든 이웃 </a:t>
            </a:r>
            <a:r>
              <a:rPr lang="ko-KR" altLang="en-US" dirty="0" err="1"/>
              <a:t>임베딩을</a:t>
            </a:r>
            <a:r>
              <a:rPr lang="ko-KR" altLang="en-US" dirty="0"/>
              <a:t> 더하는 것 </a:t>
            </a:r>
            <a:r>
              <a:rPr lang="en-US" altLang="ko-KR" dirty="0"/>
              <a:t>: </a:t>
            </a:r>
            <a:r>
              <a:rPr lang="ko-KR" altLang="en-US" dirty="0"/>
              <a:t>합 </a:t>
            </a:r>
            <a:r>
              <a:rPr lang="ko-KR" altLang="en-US" dirty="0" err="1"/>
              <a:t>집계기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ko-KR" altLang="en-US" dirty="0"/>
              <a:t>내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 err="1"/>
              <a:t>h_i</a:t>
            </a:r>
            <a:r>
              <a:rPr lang="ko-KR" altLang="en-US" dirty="0"/>
              <a:t>에 </a:t>
            </a:r>
            <a:r>
              <a:rPr lang="el-GR" altLang="ko-KR" dirty="0"/>
              <a:t>(1+ε)</a:t>
            </a:r>
            <a:r>
              <a:rPr lang="ko-KR" altLang="en-US" dirty="0"/>
              <a:t>를 곱함</a:t>
            </a:r>
            <a:br>
              <a:rPr lang="en-US" altLang="ko-KR" dirty="0"/>
            </a:br>
            <a:r>
              <a:rPr lang="en-US" altLang="ko-KR" dirty="0"/>
              <a:t>MLP (=</a:t>
            </a:r>
            <a:r>
              <a:rPr lang="ko-KR" altLang="en-US" dirty="0"/>
              <a:t>해시함수</a:t>
            </a:r>
            <a:r>
              <a:rPr lang="en-US" altLang="ko-KR" dirty="0"/>
              <a:t>)</a:t>
            </a:r>
            <a:r>
              <a:rPr lang="ko-KR" altLang="en-US" dirty="0"/>
              <a:t>에 넣어서 새 </a:t>
            </a:r>
            <a:r>
              <a:rPr lang="ko-KR" altLang="en-US" dirty="0" err="1"/>
              <a:t>임베딩</a:t>
            </a:r>
            <a:r>
              <a:rPr lang="ko-KR" altLang="en-US" dirty="0"/>
              <a:t> 출력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F3217-E174-EC80-1DA0-BF90A25F1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18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D05DC-D9F3-D8A6-5D83-6C5346EE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36F72F-04F3-63BF-0E07-7D5822B30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CEAF35-2B1D-2B51-A0E2-FFEAFAA8C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이론적으로는 더 강력한데</a:t>
            </a:r>
            <a:r>
              <a:rPr lang="en-US" altLang="ko-KR" dirty="0"/>
              <a:t>, </a:t>
            </a:r>
            <a:r>
              <a:rPr lang="ko-KR" altLang="en-US" dirty="0"/>
              <a:t>실제로 써보면 더 약한 모델보다 못한 경우가 많다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k-tuple</a:t>
            </a:r>
            <a:r>
              <a:rPr lang="ko-KR" altLang="en-US" dirty="0"/>
              <a:t>은 노드 수의 </a:t>
            </a:r>
            <a:r>
              <a:rPr lang="en-US" altLang="ko-KR" dirty="0"/>
              <a:t>k</a:t>
            </a:r>
            <a:r>
              <a:rPr lang="ko-KR" altLang="en-US" dirty="0"/>
              <a:t>제곱만큼 계산해야 해서 계산이 너무 무거움</a:t>
            </a:r>
            <a:endParaRPr lang="en-US" altLang="ko-KR" dirty="0"/>
          </a:p>
          <a:p>
            <a:r>
              <a:rPr lang="ko-KR" altLang="en-US" dirty="0" err="1"/>
              <a:t>과적합</a:t>
            </a:r>
            <a:r>
              <a:rPr lang="en-US" altLang="ko-KR" dirty="0"/>
              <a:t>(overfitting): </a:t>
            </a:r>
            <a:r>
              <a:rPr lang="ko-KR" altLang="en-US" dirty="0"/>
              <a:t>모델이 너무 강력해서 처음 보는 데이터에 대해 성능이 떨어짐 </a:t>
            </a:r>
            <a:r>
              <a:rPr lang="en-US" altLang="ko-KR" dirty="0"/>
              <a:t>– </a:t>
            </a:r>
            <a:r>
              <a:rPr lang="ko-KR" altLang="en-US" dirty="0"/>
              <a:t>너무 </a:t>
            </a:r>
            <a:r>
              <a:rPr lang="ko-KR" altLang="en-US" dirty="0" err="1"/>
              <a:t>똑똑한게</a:t>
            </a:r>
            <a:r>
              <a:rPr lang="ko-KR" altLang="en-US" dirty="0"/>
              <a:t> 독</a:t>
            </a:r>
            <a:endParaRPr lang="en-US" altLang="ko-KR" dirty="0"/>
          </a:p>
          <a:p>
            <a:r>
              <a:rPr lang="ko-KR" altLang="en-US" dirty="0"/>
              <a:t>실제 데이터의 한계</a:t>
            </a:r>
            <a:r>
              <a:rPr lang="en-US" altLang="ko-KR" dirty="0"/>
              <a:t>: </a:t>
            </a:r>
            <a:r>
              <a:rPr lang="ko-KR" altLang="en-US" dirty="0"/>
              <a:t>현실의 그래프 데이터가 </a:t>
            </a:r>
            <a:r>
              <a:rPr lang="ko-KR" altLang="en-US" dirty="0" err="1"/>
              <a:t>그렇게까지</a:t>
            </a:r>
            <a:r>
              <a:rPr lang="ko-KR" altLang="en-US" dirty="0"/>
              <a:t> 미세한 구분이 필요한 경우가 </a:t>
            </a:r>
            <a:r>
              <a:rPr lang="ko-KR" altLang="en-US" dirty="0" err="1"/>
              <a:t>드뭄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2A5C9-E607-4A44-FF24-8E5EB31A5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69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543ED-D47C-5E6E-342C-A36B2103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52C2F9-E369-7FF8-F7CB-42D59DEE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0956C1-9745-4A1B-D820-CF89E7BE0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전역 </a:t>
            </a:r>
            <a:r>
              <a:rPr lang="ko-KR" altLang="en-US" b="0" dirty="0" err="1"/>
              <a:t>풀링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/>
              <a:t>그래프의 모든 노드 정보를 하나로 모아서 그래프 </a:t>
            </a:r>
            <a:r>
              <a:rPr lang="ko-KR" altLang="en-US" b="0" dirty="0" err="1"/>
              <a:t>임베딩을</a:t>
            </a:r>
            <a:r>
              <a:rPr lang="ko-KR" altLang="en-US" b="0" dirty="0"/>
              <a:t> 만드는 작업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합산 그래프 </a:t>
            </a:r>
            <a:r>
              <a:rPr lang="ko-KR" altLang="en-US" b="0" dirty="0" err="1"/>
              <a:t>풀링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dirty="0"/>
              <a:t>그래프 안에 있는 모든 노드의 </a:t>
            </a:r>
            <a:r>
              <a:rPr lang="ko-KR" altLang="en-US" dirty="0" err="1"/>
              <a:t>임베딩을</a:t>
            </a:r>
            <a:r>
              <a:rPr lang="ko-KR" altLang="en-US" dirty="0"/>
              <a:t> 다 더해서 그래프 </a:t>
            </a:r>
            <a:r>
              <a:rPr lang="ko-KR" altLang="en-US" dirty="0" err="1"/>
              <a:t>임베딩을</a:t>
            </a:r>
            <a:r>
              <a:rPr lang="ko-KR" altLang="en-US" dirty="0"/>
              <a:t> 만든다</a:t>
            </a:r>
            <a:endParaRPr lang="en-US" altLang="ko-KR" dirty="0"/>
          </a:p>
          <a:p>
            <a:endParaRPr lang="en-US" altLang="ko-KR" b="0" dirty="0"/>
          </a:p>
          <a:p>
            <a:r>
              <a:rPr lang="ko-KR" altLang="en-US" b="0" dirty="0"/>
              <a:t>∣∣ </a:t>
            </a:r>
            <a:r>
              <a:rPr lang="en-US" altLang="ko-KR" b="0" dirty="0"/>
              <a:t>: </a:t>
            </a:r>
            <a:r>
              <a:rPr lang="ko-KR" altLang="en-US" b="0" dirty="0"/>
              <a:t>연결</a:t>
            </a:r>
            <a:r>
              <a:rPr lang="en-US" altLang="ko-KR" b="0" dirty="0"/>
              <a:t>(concatenation) </a:t>
            </a:r>
            <a:r>
              <a:rPr lang="ko-KR" altLang="en-US" b="0" dirty="0"/>
              <a:t>기호</a:t>
            </a:r>
            <a:endParaRPr lang="en-US" altLang="ko-KR" b="0" dirty="0"/>
          </a:p>
          <a:p>
            <a:r>
              <a:rPr lang="ko-KR" altLang="en-US" b="0" dirty="0"/>
              <a:t>연결 </a:t>
            </a:r>
            <a:r>
              <a:rPr lang="en-US" altLang="ko-KR" b="0" dirty="0"/>
              <a:t>(||)[1, 2, 3] || [4, 5, 6] = [1, 2, 3, 4, 5, 6]</a:t>
            </a:r>
          </a:p>
          <a:p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모든 레이어 정보를 다 담은 거대한 그래프 </a:t>
            </a:r>
            <a:r>
              <a:rPr lang="ko-KR" altLang="en-US" dirty="0" err="1"/>
              <a:t>임베딩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4C995-34DA-0895-DB73-87EAF0924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740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379E-C514-E0F7-02BD-C4CC8C61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C88E42-F325-35CA-FA92-E9A4342B1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D8D088-DBDC-58DA-172E-2E70CC4CF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단백질은 아미노산들이 사슬처럼 연결되어 접힌 분자</a:t>
            </a:r>
            <a:endParaRPr lang="en-US" altLang="ko-KR" b="0" dirty="0"/>
          </a:p>
          <a:p>
            <a:r>
              <a:rPr lang="ko-KR" altLang="en-US" b="0" dirty="0"/>
              <a:t>각 아미노산은 노드로 두고</a:t>
            </a:r>
            <a:r>
              <a:rPr lang="en-US" altLang="ko-KR" b="0" dirty="0"/>
              <a:t>, </a:t>
            </a:r>
            <a:r>
              <a:rPr lang="ko-KR" altLang="en-US" b="0" dirty="0"/>
              <a:t>충분히 가까운 </a:t>
            </a:r>
            <a:r>
              <a:rPr lang="ko-KR" altLang="en-US" b="0" dirty="0" err="1"/>
              <a:t>아미노산끼리는</a:t>
            </a:r>
            <a:r>
              <a:rPr lang="ko-KR" altLang="en-US" b="0" dirty="0"/>
              <a:t> 간선으로 연결한다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FAC6D-F8AA-90FC-A1CB-4A3D28378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937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79A0-697E-31BD-F5AB-FCC0CB27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BC61BB-2CE1-E9DE-B6A5-565A2C4E1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EB88A8-09EB-8EA0-3781-2B13C3FF0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GIN </a:t>
            </a:r>
            <a:r>
              <a:rPr lang="ko-KR" altLang="en-US" dirty="0"/>
              <a:t>수식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GINConv</a:t>
            </a:r>
            <a:r>
              <a:rPr lang="en-US" altLang="ko-KR" dirty="0"/>
              <a:t> + MLP</a:t>
            </a:r>
          </a:p>
          <a:p>
            <a:r>
              <a:rPr lang="ko-KR" altLang="en-US" dirty="0"/>
              <a:t>합 </a:t>
            </a:r>
            <a:r>
              <a:rPr lang="ko-KR" altLang="en-US" dirty="0" err="1"/>
              <a:t>집계기</a:t>
            </a:r>
            <a:r>
              <a:rPr lang="ko-KR" altLang="en-US" dirty="0"/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global_add_pool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dirty="0"/>
              <a:t>레이어 연결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torch.cat([...], dim=1)</a:t>
            </a:r>
          </a:p>
          <a:p>
            <a:r>
              <a:rPr lang="ko-KR" altLang="en-US" dirty="0"/>
              <a:t>단사 함수 근사 단사 함수 근사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nn.Linear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nn.Linear</a:t>
            </a:r>
            <a:r>
              <a:rPr lang="en-US" altLang="ko-KR" dirty="0"/>
              <a:t> (MLP)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nn.Linear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nn.Linear</a:t>
            </a:r>
            <a:r>
              <a:rPr lang="en-US" altLang="ko-KR" dirty="0"/>
              <a:t> (MLP)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C2EF8-8094-2231-EF1D-4B0DBF41B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86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9C6F-7760-65B3-8AE3-B0538AA5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77D95-019C-114A-EA08-E07B32C06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B22E7-7F41-D47E-CB17-F5B456F71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더 흥미로운 점은 </a:t>
            </a:r>
            <a:r>
              <a:rPr lang="en-US" altLang="ko-KR" b="0" dirty="0"/>
              <a:t>GIN</a:t>
            </a:r>
            <a:r>
              <a:rPr lang="ko-KR" altLang="en-US" b="0" dirty="0"/>
              <a:t>도 실수를 하는데</a:t>
            </a:r>
            <a:r>
              <a:rPr lang="en-US" altLang="ko-KR" b="0" dirty="0"/>
              <a:t>, GCN</a:t>
            </a:r>
            <a:r>
              <a:rPr lang="ko-KR" altLang="en-US" b="0" dirty="0"/>
              <a:t>과는 다른 그래프에서 실수한다는</a:t>
            </a:r>
            <a:r>
              <a:rPr lang="en-US" altLang="ko-KR" b="0" dirty="0"/>
              <a:t> </a:t>
            </a:r>
            <a:r>
              <a:rPr lang="ko-KR" altLang="en-US" b="0" dirty="0"/>
              <a:t>것</a:t>
            </a:r>
            <a:endParaRPr lang="en-US" altLang="ko-KR" b="0" dirty="0"/>
          </a:p>
          <a:p>
            <a:r>
              <a:rPr lang="ko-KR" altLang="en-US" b="0" dirty="0"/>
              <a:t>즉 두 모델이 </a:t>
            </a:r>
            <a:r>
              <a:rPr lang="ko-KR" altLang="en-US" b="0" dirty="0" err="1"/>
              <a:t>헷갈려하는</a:t>
            </a:r>
            <a:r>
              <a:rPr lang="ko-KR" altLang="en-US" b="0" dirty="0"/>
              <a:t> 그래프가 서로 다릅니다</a:t>
            </a:r>
            <a:r>
              <a:rPr lang="en-US" altLang="ko-KR" b="0" dirty="0"/>
              <a:t>. </a:t>
            </a:r>
            <a:r>
              <a:rPr lang="ko-KR" altLang="en-US" b="0" dirty="0"/>
              <a:t>이건 두 모델이 상호 보완적이라는 뜻이고</a:t>
            </a:r>
            <a:r>
              <a:rPr lang="en-US" altLang="ko-KR" b="0" dirty="0"/>
              <a:t>, </a:t>
            </a:r>
            <a:r>
              <a:rPr lang="ko-KR" altLang="en-US" b="0" dirty="0"/>
              <a:t>만약 두 모델을 결합한다면 </a:t>
            </a:r>
            <a:r>
              <a:rPr lang="en-US" altLang="ko-KR" b="0" dirty="0"/>
              <a:t>(</a:t>
            </a:r>
            <a:r>
              <a:rPr lang="ko-KR" altLang="en-US" b="0" dirty="0"/>
              <a:t>앙상블 학습</a:t>
            </a:r>
            <a:r>
              <a:rPr lang="en-US" altLang="ko-KR" b="0" dirty="0"/>
              <a:t>) </a:t>
            </a:r>
            <a:r>
              <a:rPr lang="ko-KR" altLang="en-US" b="0" dirty="0"/>
              <a:t>더 강력한 분류기를 만들 수 있다는 가능성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797D2B-4288-B7D4-E4D8-863EE3957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336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258B8-C4B9-A108-2085-44E7944F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702C61-C480-8184-3075-9E0C2559E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870D45-E20A-D66E-2F8E-3687E1EA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단순 모델 평균화를 통해 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DAE40-29F7-B7DF-4C9C-B3CC2DE23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A4523-2B34-41F8-BF09-8D041143A40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0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2E2DA-EFBE-4CA1-C5FA-9AE081638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19EFB7-1E31-7BBE-9CDC-999F097FB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51B81-6996-D634-402C-E19FAF0B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439C67-22DD-2278-99E1-E115568C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607E7-22F6-5174-2D89-D8495482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78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54770-C9D1-4165-2EBA-5573A86C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49871-4ACD-13FE-CA80-B17997274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70BD78-B0F2-7CAD-2FA0-EEC55C291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AEADC4-4742-B749-6FF4-0065B921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69EDF-6651-AEFB-7D9D-423E5BDE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29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07AD6-A16E-74A0-49B5-C1031D0C3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E6F06E-F8F3-7209-B973-A16457BE6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AC1E8-11F0-57D1-74FF-1A93A253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BDA4CB-5764-E5D4-70A1-7CA18B56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D422D0-084E-D7D3-3991-848E417B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3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3E2E4-7F9A-1589-EA12-C3929C9F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853D9-5065-FA48-4294-96E221EFA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E7EE15-4124-DA98-EA84-116977696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EDE446-147A-E1B4-8AC8-B7A48BF3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49DDB7-8020-BABA-06DC-70A352DB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A6FA4E-2CC3-9BF1-5719-2AE1E0C2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3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D3B47-8FF7-F23E-C48A-4B92A07C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F09300-32BE-06A6-1AB6-68DA8222F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94220D-4AE9-1D76-2B91-001A93735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300EA3-AAD8-2EE4-DB74-893BBE88F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E4AE86-D095-0DCE-B656-247F9CD6A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418212-5FE3-7C19-F6B6-67D133DC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E36473-CB20-399C-FD33-29A668E6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C0439D-A093-41C0-D89B-BE4D6418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2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CC6EA-C67C-9BF7-4DB0-519B5316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466475-9E52-1E01-1684-7C907B61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8F0C0-4906-D42B-A0DE-F0AF8080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80DC7B-9906-52B2-8BF6-B1D06FDD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303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7FE2BF-ABE6-465E-7026-52CFA3E8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06CB01-2157-F2A5-FF60-4F288B05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E66CF-0994-355C-446A-66F0D307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57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2D54A-2E64-D0F6-EF9C-F4313840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B3FD14-3A7B-D96A-07DC-75B1D85BC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D53D68-418C-3F6F-F3AD-BCDA8F040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024A14-4933-8062-E673-44025AE8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153B61-4B56-8B87-DA24-BA6B4CB96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5FF18C-428B-634A-72E2-5A41674F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76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CD63B-EBF8-1AD4-D1C3-3B48495F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3FE9F0-AE5B-6B80-8A05-ECB70C7CF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212CEA-6338-99BD-F1FC-46CAC297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10B54-2690-BB96-6D48-D652E6F6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9B5420-7F10-F577-F0C0-D97569A0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FFBD1D-592D-5DA9-FFC4-56B875C2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52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D7188-F0A7-69C7-2248-81D8819B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35F427-D2E7-6F3A-A1A3-74646ED0D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A40C7-08CF-F342-69AC-3F2551AFE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D195D4-F58F-8DE7-FE06-3AF9C42B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4C256D-E3E9-D130-6274-8A46B668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5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938E7C-6B55-A26A-2C3F-0AA3DC8CC7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B240A4-BADD-9B81-4808-5D9D3F89D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8C4-0AF3-18D7-01A0-645339DF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BC0575-6C71-04FC-BBFE-39DD396E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CB78C-5065-54A8-4ADA-556BAB12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09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DBD279-82D3-E010-1B00-F5FC4BFA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985736-ACF2-CD61-7CF9-D2DD0014B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34952-B5F0-D0C3-CBD2-14FA144CB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1BFAD-F204-42A4-9F5F-964F4BCFE958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ADAB01-181D-BEAC-0E24-BC751F8BA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1E241A-8E98-FAE0-31AD-921C2E464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21BC3-DF2B-4110-9BBE-96D588757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62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C8401-95A7-A2FB-00B7-CC4B62132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617" y="1709811"/>
            <a:ext cx="9200761" cy="13415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핸즈온</a:t>
            </a:r>
            <a:r>
              <a:rPr lang="ko-KR" altLang="en-US" sz="3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그래프 인공신경망</a:t>
            </a:r>
            <a:br>
              <a:rPr lang="en-US" altLang="ko-KR" sz="3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</a:br>
            <a:r>
              <a:rPr lang="en-US" altLang="ko-KR" sz="3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3ED191-1B0C-EB98-73F2-0E58CA251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7719" y="4000569"/>
            <a:ext cx="5716555" cy="134158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A7610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그래프신경망특론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이희찬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40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69632A-EA13-9B20-A7D0-6E4B8D19761A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74B812-B5FA-8A94-D760-8359B0BACA7F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0D7B9-26DD-28C1-F417-24961D7D9E62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그래프 인공신경망을 </a:t>
            </a:r>
            <a:r>
              <a:rPr lang="en-US" altLang="ko-KR" sz="2000" b="1" u="sng" dirty="0"/>
              <a:t>“</a:t>
            </a:r>
            <a:r>
              <a:rPr lang="ko-KR" altLang="en-US" sz="2000" b="1" u="sng" dirty="0"/>
              <a:t>정확</a:t>
            </a:r>
            <a:r>
              <a:rPr lang="en-US" altLang="ko-KR" sz="2000" b="1" u="sng" dirty="0"/>
              <a:t>”</a:t>
            </a:r>
            <a:r>
              <a:rPr lang="ko-KR" altLang="en-US" sz="2000" dirty="0"/>
              <a:t>하게 만드는 요소</a:t>
            </a:r>
            <a:r>
              <a:rPr lang="en-US" altLang="ko-KR" sz="2000" dirty="0"/>
              <a:t>, </a:t>
            </a:r>
            <a:r>
              <a:rPr lang="ko-KR" altLang="en-US" sz="2000" b="1" u="sng" dirty="0"/>
              <a:t>정밀도</a:t>
            </a:r>
            <a:r>
              <a:rPr lang="en-US" altLang="ko-KR" sz="2000" b="1" u="sng" dirty="0"/>
              <a:t>(precision)</a:t>
            </a:r>
            <a:r>
              <a:rPr lang="ko-KR" altLang="en-US" sz="2000" dirty="0"/>
              <a:t>는 어디서 나오는가</a:t>
            </a:r>
            <a:r>
              <a:rPr lang="en-US" altLang="ko-KR" sz="2000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u="sng" dirty="0"/>
              <a:t>정밀도</a:t>
            </a:r>
            <a:r>
              <a:rPr lang="ko-KR" altLang="en-US" sz="2000" dirty="0"/>
              <a:t>라는 개념을 활용하여 </a:t>
            </a:r>
            <a:r>
              <a:rPr lang="ko-KR" altLang="en-US" sz="2000" b="1" u="sng" dirty="0"/>
              <a:t>더 나은 그래프 인공신경망 설계</a:t>
            </a:r>
            <a:r>
              <a:rPr lang="ko-KR" altLang="en-US" sz="2000" dirty="0"/>
              <a:t>가 가능한가</a:t>
            </a:r>
            <a:r>
              <a:rPr lang="en-US" altLang="ko-KR" sz="2000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/>
              <a:t>Weisfeiler</a:t>
            </a:r>
            <a:r>
              <a:rPr lang="en-US" altLang="ko-KR" sz="2000" b="1" dirty="0"/>
              <a:t>-Leman(WL) </a:t>
            </a:r>
            <a:r>
              <a:rPr lang="ko-KR" altLang="en-US" sz="2000" b="1" dirty="0"/>
              <a:t>테스트 소개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GNN</a:t>
            </a:r>
            <a:r>
              <a:rPr lang="ko-KR" altLang="en-US" sz="2000" dirty="0"/>
              <a:t>을 강력하게 만드는 요소를 명확히 할 것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표현력</a:t>
            </a:r>
            <a:r>
              <a:rPr lang="en-US" altLang="ko-KR" sz="2000" dirty="0"/>
              <a:t>(expressiveness)</a:t>
            </a:r>
            <a:r>
              <a:rPr lang="ko-KR" altLang="en-US" sz="2000" dirty="0"/>
              <a:t>를 이해하기 위한 기본적인 개념 제공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다양한 </a:t>
            </a:r>
            <a:r>
              <a:rPr lang="en-US" altLang="ko-KR" sz="2000" b="1" dirty="0"/>
              <a:t>GNN </a:t>
            </a:r>
            <a:r>
              <a:rPr lang="ko-KR" altLang="en-US" sz="2000" b="1" dirty="0"/>
              <a:t>레이어 비교</a:t>
            </a:r>
            <a:r>
              <a:rPr lang="ko-KR" altLang="en-US" sz="2000" dirty="0"/>
              <a:t> → 어떤 레이어가 가장 표현력이 있는지 확인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비교 결과를 사용해 더 강력한 </a:t>
            </a:r>
            <a:r>
              <a:rPr lang="en-US" altLang="ko-KR" sz="2000" b="1" dirty="0"/>
              <a:t>GNN </a:t>
            </a:r>
            <a:r>
              <a:rPr lang="ko-KR" altLang="en-US" sz="2000" b="1" dirty="0"/>
              <a:t>설계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PROTEINS </a:t>
            </a:r>
            <a:r>
              <a:rPr lang="ko-KR" altLang="en-US" sz="2000" dirty="0"/>
              <a:t>데이터셋</a:t>
            </a:r>
            <a:r>
              <a:rPr lang="en-US" altLang="ko-KR" sz="2000" dirty="0"/>
              <a:t>(1,113</a:t>
            </a:r>
            <a:r>
              <a:rPr lang="ko-KR" altLang="en-US" sz="2000" dirty="0"/>
              <a:t>개의 단백질</a:t>
            </a:r>
            <a:r>
              <a:rPr lang="en-US" altLang="ko-KR" sz="2000" dirty="0"/>
              <a:t>)</a:t>
            </a:r>
            <a:r>
              <a:rPr lang="ko-KR" altLang="en-US" sz="2000" dirty="0"/>
              <a:t>에서 새로운 </a:t>
            </a:r>
            <a:r>
              <a:rPr lang="en-US" altLang="ko-KR" sz="2000" dirty="0"/>
              <a:t>GNN </a:t>
            </a:r>
            <a:r>
              <a:rPr lang="ko-KR" altLang="en-US" sz="2000" dirty="0"/>
              <a:t>구현 및 결과 분석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C4BDC1-D607-39F7-587F-5824F16BAB06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학습 목표</a:t>
            </a:r>
          </a:p>
        </p:txBody>
      </p:sp>
    </p:spTree>
    <p:extLst>
      <p:ext uri="{BB962C8B-B14F-4D97-AF65-F5344CB8AC3E}">
        <p14:creationId xmlns:p14="http://schemas.microsoft.com/office/powerpoint/2010/main" val="268196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9FF1-3A72-B520-FBFC-C4E43C27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9EBDDE8-E78D-AD94-E369-1547E2DFE586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077F46-60FC-F437-3362-51198CABDAFF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2/15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B3D2F-661B-C466-CB15-F1E474308136}"/>
              </a:ext>
            </a:extLst>
          </p:cNvPr>
          <p:cNvSpPr txBox="1"/>
          <p:nvPr/>
        </p:nvSpPr>
        <p:spPr>
          <a:xfrm>
            <a:off x="385271" y="931088"/>
            <a:ext cx="11102109" cy="3726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이 장이 끝나면</a:t>
            </a:r>
            <a:r>
              <a:rPr lang="en-US" altLang="ko-KR" sz="2000" dirty="0"/>
              <a:t>, </a:t>
            </a:r>
            <a:r>
              <a:rPr lang="en-US" altLang="ko-KR" sz="2000" b="1" u="sng" dirty="0"/>
              <a:t>GNN</a:t>
            </a:r>
            <a:r>
              <a:rPr lang="ko-KR" altLang="en-US" sz="2000" b="1" u="sng" dirty="0"/>
              <a:t> 표현력이 있는지 이해하고 측정하는 방법</a:t>
            </a:r>
            <a:r>
              <a:rPr lang="ko-KR" altLang="en-US" sz="2000" dirty="0"/>
              <a:t>을 알 수 있을 것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WL </a:t>
            </a:r>
            <a:r>
              <a:rPr lang="ko-KR" altLang="en-US" sz="2000" dirty="0"/>
              <a:t>테스트를 기반으로 한 </a:t>
            </a:r>
            <a:r>
              <a:rPr lang="ko-KR" altLang="en-US" sz="2000" b="1" u="sng" dirty="0"/>
              <a:t>새로운 </a:t>
            </a:r>
            <a:r>
              <a:rPr lang="en-US" altLang="ko-KR" sz="2000" b="1" u="sng" dirty="0"/>
              <a:t>GNN </a:t>
            </a:r>
            <a:r>
              <a:rPr lang="ko-KR" altLang="en-US" sz="2000" b="1" u="sng" dirty="0"/>
              <a:t>아키텍처</a:t>
            </a:r>
            <a:r>
              <a:rPr lang="ko-KR" altLang="en-US" sz="2000" dirty="0"/>
              <a:t> 구현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다양한 기술을 사용하여 </a:t>
            </a:r>
            <a:r>
              <a:rPr lang="ko-KR" altLang="en-US" sz="2000" b="1" u="sng" dirty="0"/>
              <a:t>그래프 분류도 수행할 수 있을 것</a:t>
            </a:r>
            <a:endParaRPr lang="en-US" altLang="ko-KR" sz="2000" b="1" u="sng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이 장에서의 핵심 주제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표현력 정의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GIN </a:t>
            </a:r>
            <a:r>
              <a:rPr lang="ko-KR" altLang="en-US" sz="2000" dirty="0"/>
              <a:t>소개하기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GIN</a:t>
            </a:r>
            <a:r>
              <a:rPr lang="ko-KR" altLang="en-US" sz="2000" dirty="0"/>
              <a:t>을 이용한 그래프 분류</a:t>
            </a:r>
            <a:endParaRPr lang="en-US" altLang="ko-KR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B2FB4F-78D3-6730-7BB0-4CECACECB9D3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학습 목표</a:t>
            </a:r>
          </a:p>
        </p:txBody>
      </p:sp>
    </p:spTree>
    <p:extLst>
      <p:ext uri="{BB962C8B-B14F-4D97-AF65-F5344CB8AC3E}">
        <p14:creationId xmlns:p14="http://schemas.microsoft.com/office/powerpoint/2010/main" val="83645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AFC0-7448-0E3C-661E-9673CB2A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3A43924-46B7-62C9-429B-E97C53DFBA41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88E9D1-B492-04B4-0683-913A8100620C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3/15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65800-C8AE-0A6A-4BB5-BB8AC1AA1F2A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인공 신경망은 함수를 </a:t>
            </a:r>
            <a:r>
              <a:rPr lang="ko-KR" altLang="en-US" sz="2000" dirty="0" err="1"/>
              <a:t>근사하는데에</a:t>
            </a:r>
            <a:r>
              <a:rPr lang="ko-KR" altLang="en-US" sz="2000" dirty="0"/>
              <a:t> 사용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Universal approximation theorem(</a:t>
            </a:r>
            <a:r>
              <a:rPr lang="ko-KR" altLang="en-US" sz="2000" dirty="0"/>
              <a:t>보편 근사 정리</a:t>
            </a:r>
            <a:r>
              <a:rPr lang="en-US" altLang="ko-KR" sz="2000" dirty="0"/>
              <a:t>)</a:t>
            </a:r>
            <a:r>
              <a:rPr lang="ko-KR" altLang="en-US" sz="2000" dirty="0"/>
              <a:t>에 따르면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/>
              <a:t>레이어 </a:t>
            </a:r>
            <a:r>
              <a:rPr lang="ko-KR" altLang="en-US" sz="2000" dirty="0" err="1"/>
              <a:t>하나짜리</a:t>
            </a:r>
            <a:r>
              <a:rPr lang="ko-KR" altLang="en-US" sz="2000" dirty="0"/>
              <a:t> 간단한 </a:t>
            </a:r>
            <a:r>
              <a:rPr lang="ko-KR" altLang="en-US" sz="2000" dirty="0" err="1"/>
              <a:t>피드포워드</a:t>
            </a:r>
            <a:r>
              <a:rPr lang="ko-KR" altLang="en-US" sz="2000" dirty="0"/>
              <a:t> 신경망도 어떤 부드러운 </a:t>
            </a:r>
            <a:r>
              <a:rPr lang="ko-KR" altLang="en-US" sz="2000" dirty="0" err="1"/>
              <a:t>함수든</a:t>
            </a:r>
            <a:r>
              <a:rPr lang="ko-KR" altLang="en-US" sz="2000" dirty="0"/>
              <a:t> 근사할 수 있음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GNN</a:t>
            </a:r>
            <a:r>
              <a:rPr lang="ko-KR" altLang="en-US" sz="2000" b="1" dirty="0"/>
              <a:t>을 이용한 우리의 목표</a:t>
            </a:r>
            <a:r>
              <a:rPr lang="en-US" altLang="ko-KR" sz="2000" b="1" dirty="0"/>
              <a:t> : </a:t>
            </a:r>
            <a:r>
              <a:rPr lang="ko-KR" altLang="en-US" sz="2000" dirty="0"/>
              <a:t>가능한 최고의 노드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만들기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좋은 </a:t>
            </a:r>
            <a:r>
              <a:rPr lang="ko-KR" altLang="en-US" sz="2000" b="1" dirty="0" err="1"/>
              <a:t>임베딩</a:t>
            </a:r>
            <a:r>
              <a:rPr lang="ko-KR" altLang="en-US" sz="2000" dirty="0" err="1"/>
              <a:t>이란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서로 다른 노드는 서로 다른 </a:t>
            </a:r>
            <a:r>
              <a:rPr lang="ko-KR" altLang="en-US" sz="2000" dirty="0" err="1"/>
              <a:t>임베딩을</a:t>
            </a:r>
            <a:r>
              <a:rPr lang="ko-KR" altLang="en-US" sz="2000" dirty="0"/>
              <a:t> 가지고</a:t>
            </a:r>
            <a:r>
              <a:rPr lang="en-US" altLang="ko-KR" sz="2000" dirty="0"/>
              <a:t>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비슷한 노드는 비슷한 </a:t>
            </a:r>
            <a:r>
              <a:rPr lang="ko-KR" altLang="en-US" sz="2000" dirty="0" err="1"/>
              <a:t>임베딩을</a:t>
            </a:r>
            <a:r>
              <a:rPr lang="ko-KR" altLang="en-US" sz="2000" dirty="0"/>
              <a:t> 가져야 한다는 것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→ </a:t>
            </a:r>
            <a:r>
              <a:rPr lang="ko-KR" altLang="en-US" sz="2000" dirty="0" err="1"/>
              <a:t>임베딩은</a:t>
            </a:r>
            <a:r>
              <a:rPr lang="ko-KR" altLang="en-US" sz="2000" dirty="0"/>
              <a:t> </a:t>
            </a:r>
            <a:r>
              <a:rPr lang="ko-KR" altLang="en-US" sz="2000" b="1" u="sng" dirty="0"/>
              <a:t>노드 </a:t>
            </a:r>
            <a:r>
              <a:rPr lang="ko-KR" altLang="en-US" sz="2000" b="1" u="sng" dirty="0" err="1"/>
              <a:t>특성값</a:t>
            </a:r>
            <a:r>
              <a:rPr lang="en-US" altLang="ko-KR" sz="2000" b="1" u="sng" dirty="0"/>
              <a:t>(node features)</a:t>
            </a:r>
            <a:r>
              <a:rPr lang="ko-KR" altLang="en-US" sz="2000" b="1" u="sng" dirty="0"/>
              <a:t>과 연결</a:t>
            </a:r>
            <a:r>
              <a:rPr lang="en-US" altLang="ko-KR" sz="2000" b="1" u="sng" dirty="0"/>
              <a:t>(connection)</a:t>
            </a:r>
            <a:r>
              <a:rPr lang="ko-KR" altLang="en-US" sz="2000" b="1" u="sng" dirty="0"/>
              <a:t>을 통해 계산</a:t>
            </a:r>
            <a:r>
              <a:rPr lang="ko-KR" altLang="en-US" sz="2000" dirty="0"/>
              <a:t>되므로 이를 비교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그래프에서는 어떨까</a:t>
            </a:r>
            <a:r>
              <a:rPr lang="en-US" altLang="ko-KR" sz="2000" b="1" dirty="0">
                <a:highlight>
                  <a:srgbClr val="FFFF00"/>
                </a:highlight>
              </a:rPr>
              <a:t>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F1CA62-BB64-C367-5CB4-DC8D272B9402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표현력 정의</a:t>
            </a:r>
          </a:p>
        </p:txBody>
      </p:sp>
    </p:spTree>
    <p:extLst>
      <p:ext uri="{BB962C8B-B14F-4D97-AF65-F5344CB8AC3E}">
        <p14:creationId xmlns:p14="http://schemas.microsoft.com/office/powerpoint/2010/main" val="94353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D34D-8989-F813-4345-DB56BDD7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EA3D889-756D-7D5F-818D-A03D30407174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D4B4BB-941F-2B6F-9298-B8D38EF81399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4/15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27B3AC-88EE-0612-A782-97B609FB3E09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표현력 정의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83C26-A43D-21BE-E0C6-9BE4B09996B7}"/>
              </a:ext>
            </a:extLst>
          </p:cNvPr>
          <p:cNvSpPr txBox="1"/>
          <p:nvPr/>
        </p:nvSpPr>
        <p:spPr>
          <a:xfrm>
            <a:off x="385271" y="931088"/>
            <a:ext cx="11102109" cy="557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그래프 </a:t>
            </a:r>
            <a:r>
              <a:rPr lang="ko-KR" altLang="en-US" sz="2000" b="1" dirty="0" err="1"/>
              <a:t>동형성</a:t>
            </a:r>
            <a:r>
              <a:rPr lang="ko-KR" altLang="en-US" sz="2000" b="1" dirty="0"/>
              <a:t> 문제</a:t>
            </a:r>
            <a:r>
              <a:rPr lang="en-US" altLang="ko-KR" sz="2000" b="1" dirty="0"/>
              <a:t>(graph isomorphism problem)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FFF00"/>
                </a:highlight>
              </a:rPr>
              <a:t>WL </a:t>
            </a:r>
            <a:r>
              <a:rPr lang="ko-KR" altLang="en-US" sz="2000" b="1" dirty="0">
                <a:highlight>
                  <a:srgbClr val="FFFF00"/>
                </a:highlight>
              </a:rPr>
              <a:t>테스트</a:t>
            </a:r>
            <a:r>
              <a:rPr lang="ko-KR" altLang="en-US" sz="2000" dirty="0"/>
              <a:t>라 불리는 </a:t>
            </a:r>
            <a:r>
              <a:rPr lang="ko-KR" altLang="en-US" sz="2000" b="1" u="sng" dirty="0"/>
              <a:t>그래프 </a:t>
            </a:r>
            <a:r>
              <a:rPr lang="ko-KR" altLang="en-US" sz="2000" b="1" u="sng" dirty="0" err="1"/>
              <a:t>동형성</a:t>
            </a:r>
            <a:r>
              <a:rPr lang="ko-KR" altLang="en-US" sz="2000" b="1" u="sng" dirty="0"/>
              <a:t> 문제를 해결하는 효율적인 알고리즘 제안</a:t>
            </a:r>
            <a:endParaRPr lang="en-US" altLang="ko-KR" sz="2000" b="1" u="sng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WL </a:t>
            </a:r>
            <a:r>
              <a:rPr lang="ko-KR" altLang="en-US" sz="2000" dirty="0"/>
              <a:t>테스트는 </a:t>
            </a:r>
            <a:r>
              <a:rPr lang="ko-KR" altLang="en-US" sz="2000" b="1" dirty="0"/>
              <a:t>그래프의 정규 형태</a:t>
            </a:r>
            <a:r>
              <a:rPr lang="en-US" altLang="ko-KR" sz="2000" b="1" dirty="0"/>
              <a:t>(canonical form of a graph)</a:t>
            </a:r>
            <a:r>
              <a:rPr lang="ko-KR" altLang="en-US" sz="2000" b="1" dirty="0"/>
              <a:t>를 구축</a:t>
            </a:r>
            <a:r>
              <a:rPr lang="ko-KR" altLang="en-US" sz="2000" dirty="0"/>
              <a:t>하는 것을 목표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약점</a:t>
            </a:r>
            <a:r>
              <a:rPr lang="en-US" altLang="ko-KR" sz="2000" dirty="0"/>
              <a:t>: </a:t>
            </a:r>
            <a:r>
              <a:rPr lang="ko-KR" altLang="en-US" sz="2000" dirty="0"/>
              <a:t>테스트가 완벽하지 않아</a:t>
            </a:r>
            <a:r>
              <a:rPr lang="en-US" altLang="ko-KR" sz="2000" dirty="0"/>
              <a:t> </a:t>
            </a:r>
            <a:r>
              <a:rPr lang="ko-KR" altLang="en-US" sz="2000" dirty="0"/>
              <a:t>동형이 아닌 그래프도 동형으로 오판 가능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WL </a:t>
            </a:r>
            <a:r>
              <a:rPr lang="ko-KR" altLang="en-US" sz="2000" dirty="0"/>
              <a:t>알고리즘의 복잡도조차 정확히 밝혀지지 않음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u="sng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D230B1-4DA7-E29E-2C80-5C25439F6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072" y="1540926"/>
            <a:ext cx="3956253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0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CE04-DC79-65B0-0FC4-DFD16D1F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C2C92BA-AC76-5C82-1B23-2DD82B22395B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3D2A3-5564-DA62-7603-BBEF59E77A40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5/15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FD7271-B349-B867-8C5B-A5B2C19410DA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표현력 정의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B7E89-654F-6AC9-E285-C48C5E8A92AA}"/>
              </a:ext>
            </a:extLst>
          </p:cNvPr>
          <p:cNvSpPr txBox="1"/>
          <p:nvPr/>
        </p:nvSpPr>
        <p:spPr>
          <a:xfrm>
            <a:off x="385271" y="931088"/>
            <a:ext cx="11102109" cy="234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FFF00"/>
                </a:highlight>
              </a:rPr>
              <a:t>WL </a:t>
            </a:r>
            <a:r>
              <a:rPr lang="ko-KR" altLang="en-US" sz="2000" b="1" dirty="0">
                <a:highlight>
                  <a:srgbClr val="FFFF00"/>
                </a:highlight>
              </a:rPr>
              <a:t>테스트의 동작 방식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1</a:t>
            </a:r>
            <a:r>
              <a:rPr lang="ko-KR" altLang="en-US" sz="2000" dirty="0"/>
              <a:t>단계 </a:t>
            </a:r>
            <a:r>
              <a:rPr lang="en-US" altLang="ko-KR" sz="2000" dirty="0"/>
              <a:t>: </a:t>
            </a:r>
            <a:r>
              <a:rPr lang="ko-KR" altLang="en-US" sz="2000" dirty="0"/>
              <a:t>모두 동일한 색으로 시작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2</a:t>
            </a:r>
            <a:r>
              <a:rPr lang="ko-KR" altLang="en-US" sz="2000" dirty="0"/>
              <a:t>단계 집계</a:t>
            </a:r>
            <a:r>
              <a:rPr lang="en-US" altLang="ko-KR" sz="2000" dirty="0"/>
              <a:t>(aggregate): </a:t>
            </a:r>
            <a:r>
              <a:rPr lang="ko-KR" altLang="en-US" sz="2000" b="1" dirty="0"/>
              <a:t>각 노드가 개별적으로</a:t>
            </a:r>
            <a:r>
              <a:rPr lang="ko-KR" altLang="en-US" sz="2000" dirty="0"/>
              <a:t> 이웃의 색상을 집계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3</a:t>
            </a:r>
            <a:r>
              <a:rPr lang="ko-KR" altLang="en-US" sz="2000" dirty="0"/>
              <a:t>단계 해시 함수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집계값을</a:t>
            </a:r>
            <a:r>
              <a:rPr lang="ko-KR" altLang="en-US" sz="2000" dirty="0"/>
              <a:t> 해시 함수에 넣은 결과로 </a:t>
            </a:r>
            <a:r>
              <a:rPr lang="ko-KR" altLang="en-US" sz="2000" b="1" dirty="0"/>
              <a:t>새로운 색상 </a:t>
            </a:r>
            <a:r>
              <a:rPr lang="ko-KR" altLang="en-US" sz="2000" dirty="0"/>
              <a:t>생성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더 이상 색상이 변경되지 않을 때까지 </a:t>
            </a:r>
            <a:r>
              <a:rPr lang="en-US" altLang="ko-KR" sz="2000" b="1" dirty="0"/>
              <a:t>2~3</a:t>
            </a:r>
            <a:r>
              <a:rPr lang="ko-KR" altLang="en-US" sz="2000" b="1" dirty="0"/>
              <a:t>단계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집계</a:t>
            </a:r>
            <a:r>
              <a:rPr lang="en-US" altLang="ko-KR" sz="2000" b="1" dirty="0"/>
              <a:t>+</a:t>
            </a:r>
            <a:r>
              <a:rPr lang="ko-KR" altLang="en-US" sz="2000" b="1" dirty="0"/>
              <a:t>해시 함수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반복</a:t>
            </a:r>
            <a:endParaRPr lang="en-US" altLang="ko-KR" sz="20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DF0911-96E2-9328-C7DD-B0493FB4A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10" y="3429000"/>
            <a:ext cx="4616687" cy="22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2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612D-7923-0E82-CAC5-D5523A26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BD27B45-C125-F30C-2056-DDC190E57ABD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FE7AF7-0A38-4F89-21A0-BCDD5E9E92A6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6/15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69AC93-D21F-15F9-E9E6-C9A0E5DD4494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표현력 정의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A4C14-7289-9409-D8B2-F61DD1FA11B8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최종 색깔의 목록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결과</a:t>
            </a:r>
            <a:r>
              <a:rPr lang="en-US" altLang="ko-KR" sz="2000" b="1" dirty="0"/>
              <a:t>): </a:t>
            </a:r>
            <a:r>
              <a:rPr lang="ko-KR" altLang="en-US" sz="2000" dirty="0"/>
              <a:t>그래프의 정규 형태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WL </a:t>
            </a:r>
            <a:r>
              <a:rPr lang="ko-KR" altLang="en-US" sz="2000" dirty="0"/>
              <a:t>테스트는 </a:t>
            </a:r>
            <a:r>
              <a:rPr lang="en-US" altLang="ko-KR" sz="2000" dirty="0"/>
              <a:t>GNN</a:t>
            </a:r>
            <a:r>
              <a:rPr lang="ko-KR" altLang="en-US" sz="2000" dirty="0"/>
              <a:t>의 수행 방식과 유사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해시 함수를 다른 함수로 대체할 경우에도 효율적일 수 있을까</a:t>
            </a:r>
            <a:r>
              <a:rPr lang="en-US" altLang="ko-KR" sz="2000" b="1" dirty="0">
                <a:highlight>
                  <a:srgbClr val="FFFF00"/>
                </a:highlight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평균 </a:t>
            </a:r>
            <a:r>
              <a:rPr lang="ko-KR" altLang="en-US" sz="2000" dirty="0" err="1"/>
              <a:t>집계기</a:t>
            </a:r>
            <a:r>
              <a:rPr lang="ko-KR" altLang="en-US" sz="2000" dirty="0"/>
              <a:t> 약점</a:t>
            </a:r>
            <a:r>
              <a:rPr lang="en-US" altLang="ko-KR" sz="2000" dirty="0"/>
              <a:t>: </a:t>
            </a:r>
            <a:r>
              <a:rPr lang="ko-KR" altLang="en-US" sz="2000" dirty="0"/>
              <a:t>비율만 보고 개수 무시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최대 </a:t>
            </a:r>
            <a:r>
              <a:rPr lang="ko-KR" altLang="en-US" sz="2000" dirty="0" err="1"/>
              <a:t>집계기</a:t>
            </a:r>
            <a:r>
              <a:rPr lang="ko-KR" altLang="en-US" sz="2000" dirty="0"/>
              <a:t> 약점</a:t>
            </a:r>
            <a:r>
              <a:rPr lang="en-US" altLang="ko-KR" sz="2000" dirty="0"/>
              <a:t>: </a:t>
            </a:r>
            <a:r>
              <a:rPr lang="ko-KR" altLang="en-US" sz="2000" dirty="0"/>
              <a:t>정보의 절반을 잃어버림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합 </a:t>
            </a:r>
            <a:r>
              <a:rPr lang="ko-KR" altLang="en-US" sz="2000" dirty="0" err="1"/>
              <a:t>집계기</a:t>
            </a:r>
            <a:r>
              <a:rPr lang="en-US" altLang="ko-KR" sz="2000" dirty="0"/>
              <a:t>: </a:t>
            </a:r>
            <a:r>
              <a:rPr lang="ko-KR" altLang="en-US" sz="2000" b="1" u="sng" dirty="0"/>
              <a:t>비율과 개수를 모두 반영하므로 더 많은 그래프 구조를 구별 가능</a:t>
            </a:r>
            <a:endParaRPr lang="en-US" altLang="ko-KR" sz="2000" b="1" u="sng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A930ED0-F299-73DD-5DE3-8E0B99F97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6359"/>
              </p:ext>
            </p:extLst>
          </p:nvPr>
        </p:nvGraphicFramePr>
        <p:xfrm>
          <a:off x="765577" y="1913309"/>
          <a:ext cx="8128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369">
                  <a:extLst>
                    <a:ext uri="{9D8B030D-6E8A-4147-A177-3AD203B41FA5}">
                      <a16:colId xmlns:a16="http://schemas.microsoft.com/office/drawing/2014/main" val="2604923520"/>
                    </a:ext>
                  </a:extLst>
                </a:gridCol>
                <a:gridCol w="4776631">
                  <a:extLst>
                    <a:ext uri="{9D8B030D-6E8A-4147-A177-3AD203B41FA5}">
                      <a16:colId xmlns:a16="http://schemas.microsoft.com/office/drawing/2014/main" val="82037136"/>
                    </a:ext>
                  </a:extLst>
                </a:gridCol>
              </a:tblGrid>
              <a:tr h="290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WL </a:t>
                      </a:r>
                      <a:r>
                        <a:rPr lang="ko-KR" altLang="en-US" dirty="0"/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76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노드의 색깔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노드의 </a:t>
                      </a:r>
                      <a:r>
                        <a:rPr lang="ko-KR" altLang="en-US" dirty="0" err="1"/>
                        <a:t>임베딩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숫자 벡터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8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해시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집계기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803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색 → 이웃 색 모음 → 새 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임베딩</a:t>
                      </a:r>
                      <a:r>
                        <a:rPr lang="ko-KR" altLang="en-US" dirty="0"/>
                        <a:t> → 이웃 </a:t>
                      </a:r>
                      <a:r>
                        <a:rPr lang="ko-KR" altLang="en-US" dirty="0" err="1"/>
                        <a:t>임베딩</a:t>
                      </a:r>
                      <a:r>
                        <a:rPr lang="ko-KR" altLang="en-US" dirty="0"/>
                        <a:t> 모음 → 새 </a:t>
                      </a:r>
                      <a:r>
                        <a:rPr lang="ko-KR" altLang="en-US" dirty="0" err="1"/>
                        <a:t>임베딩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145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07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02CB-D25A-749E-B697-BB020904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05F410-A12A-36B8-9300-9069DBD49074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27D3C0-981A-C25F-C2F4-6DBE66CE5CE0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7/15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1422D8-D257-4F15-D66F-148ECA4097B4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소개하기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229E7-DDA0-BB58-6032-68D69FC35414}"/>
              </a:ext>
            </a:extLst>
          </p:cNvPr>
          <p:cNvSpPr txBox="1"/>
          <p:nvPr/>
        </p:nvSpPr>
        <p:spPr>
          <a:xfrm>
            <a:off x="385271" y="931088"/>
            <a:ext cx="11102109" cy="234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합 </a:t>
            </a:r>
            <a:r>
              <a:rPr lang="ko-KR" altLang="en-US" sz="2000" b="1" dirty="0" err="1">
                <a:highlight>
                  <a:srgbClr val="FFFF00"/>
                </a:highlight>
              </a:rPr>
              <a:t>집계기</a:t>
            </a:r>
            <a:r>
              <a:rPr lang="ko-KR" altLang="en-US" sz="2000" b="1" dirty="0">
                <a:highlight>
                  <a:srgbClr val="FFFF00"/>
                </a:highlight>
              </a:rPr>
              <a:t> 아이디어를 활용해 더 나은 </a:t>
            </a:r>
            <a:r>
              <a:rPr lang="en-US" altLang="ko-KR" sz="2000" b="1" dirty="0">
                <a:highlight>
                  <a:srgbClr val="FFFF00"/>
                </a:highlight>
              </a:rPr>
              <a:t>GNN</a:t>
            </a:r>
            <a:r>
              <a:rPr lang="ko-KR" altLang="en-US" sz="2000" b="1" dirty="0">
                <a:highlight>
                  <a:srgbClr val="FFFF00"/>
                </a:highlight>
              </a:rPr>
              <a:t>을 만들 수 있을까</a:t>
            </a:r>
            <a:r>
              <a:rPr lang="en-US" altLang="ko-KR" sz="2000" b="1" dirty="0">
                <a:highlight>
                  <a:srgbClr val="FFFF00"/>
                </a:highlight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u="sng" dirty="0"/>
              <a:t>WL </a:t>
            </a:r>
            <a:r>
              <a:rPr lang="ko-KR" altLang="en-US" sz="2000" b="1" u="sng" dirty="0"/>
              <a:t>테스트와 같은 표현력</a:t>
            </a:r>
            <a:r>
              <a:rPr lang="ko-KR" altLang="en-US" sz="2000" dirty="0"/>
              <a:t>을 가지도록 설계된 </a:t>
            </a:r>
            <a:r>
              <a:rPr lang="en-US" altLang="ko-KR" sz="2000" b="1" u="sng" dirty="0"/>
              <a:t>GIN</a:t>
            </a:r>
            <a:r>
              <a:rPr lang="en-US" altLang="ko-KR" sz="2000" dirty="0"/>
              <a:t> </a:t>
            </a:r>
            <a:r>
              <a:rPr lang="ko-KR" altLang="en-US" sz="2000" dirty="0"/>
              <a:t>소개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집계</a:t>
            </a:r>
            <a:r>
              <a:rPr lang="en-US" altLang="ko-KR" sz="2000" dirty="0"/>
              <a:t>: </a:t>
            </a:r>
            <a:r>
              <a:rPr lang="ko-KR" altLang="en-US" sz="2000" dirty="0"/>
              <a:t>함수 </a:t>
            </a:r>
            <a:r>
              <a:rPr lang="en-US" altLang="ko-KR" sz="2000" dirty="0"/>
              <a:t>f</a:t>
            </a:r>
            <a:r>
              <a:rPr lang="ko-KR" altLang="en-US" sz="2000" dirty="0"/>
              <a:t>는 </a:t>
            </a:r>
            <a:r>
              <a:rPr lang="en-US" altLang="ko-KR" sz="2000" dirty="0"/>
              <a:t>GNN</a:t>
            </a:r>
            <a:r>
              <a:rPr lang="ko-KR" altLang="en-US" sz="2000" dirty="0"/>
              <a:t>이 다루는 </a:t>
            </a:r>
            <a:r>
              <a:rPr lang="ko-KR" altLang="en-US" sz="2000" dirty="0" err="1"/>
              <a:t>이웃노드를</a:t>
            </a:r>
            <a:r>
              <a:rPr lang="ko-KR" altLang="en-US" sz="2000" dirty="0"/>
              <a:t> 선택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결합</a:t>
            </a:r>
            <a:r>
              <a:rPr lang="en-US" altLang="ko-KR" sz="2000" dirty="0"/>
              <a:t>: </a:t>
            </a:r>
            <a:r>
              <a:rPr lang="ko-KR" altLang="en-US" sz="2000" dirty="0"/>
              <a:t>함수 </a:t>
            </a:r>
            <a:r>
              <a:rPr lang="el-GR" altLang="ko-KR" sz="2000" dirty="0"/>
              <a:t>φ</a:t>
            </a:r>
            <a:r>
              <a:rPr lang="ko-KR" altLang="en-US" sz="2000" dirty="0"/>
              <a:t>는 선택된 노드로부터 </a:t>
            </a:r>
            <a:r>
              <a:rPr lang="ko-KR" altLang="en-US" sz="2000" dirty="0" err="1"/>
              <a:t>임베딩을</a:t>
            </a:r>
            <a:r>
              <a:rPr lang="ko-KR" altLang="en-US" sz="2000" dirty="0"/>
              <a:t> 결합하여</a:t>
            </a:r>
            <a:r>
              <a:rPr lang="en-US" altLang="ko-KR" sz="2000" dirty="0"/>
              <a:t> </a:t>
            </a:r>
            <a:r>
              <a:rPr lang="ko-KR" altLang="en-US" sz="2000" dirty="0" err="1"/>
              <a:t>타겟노드에</a:t>
            </a:r>
            <a:r>
              <a:rPr lang="ko-KR" altLang="en-US" sz="2000" dirty="0"/>
              <a:t> 대한 새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생성</a:t>
            </a:r>
            <a:r>
              <a:rPr lang="en-US" altLang="ko-KR" sz="2000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DFAA92-090C-3C37-B314-E86C64113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21" y="3515617"/>
            <a:ext cx="8193307" cy="121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9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B465-0D0D-FCF8-0D25-33ADC7E7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5031B9C-882A-44A3-ACF9-BC6A5B458393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BEFB69-91B2-56BA-1979-A50A567F2742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8/15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FAEDAF-CEB5-2A65-8001-38E2696FF238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소개하기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DB7B9-E835-588E-70F8-9DB597FB3AB0}"/>
              </a:ext>
            </a:extLst>
          </p:cNvPr>
          <p:cNvSpPr txBox="1"/>
          <p:nvPr/>
        </p:nvSpPr>
        <p:spPr>
          <a:xfrm>
            <a:off x="385271" y="931088"/>
            <a:ext cx="11102109" cy="5111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기존 </a:t>
            </a:r>
            <a:r>
              <a:rPr lang="en-US" altLang="ko-KR" sz="2000" dirty="0"/>
              <a:t>GNN</a:t>
            </a:r>
            <a:r>
              <a:rPr lang="ko-KR" altLang="en-US" sz="2000" dirty="0"/>
              <a:t>들과 </a:t>
            </a:r>
            <a:r>
              <a:rPr lang="en-US" altLang="ko-KR" sz="2000" dirty="0"/>
              <a:t>GIN</a:t>
            </a:r>
            <a:r>
              <a:rPr lang="ko-KR" altLang="en-US" sz="2000" dirty="0"/>
              <a:t>의 차이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GCN (Graph Convolutional Network)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특별한 평균 집계기로 결합 → </a:t>
            </a:r>
            <a:r>
              <a:rPr lang="ko-KR" altLang="en-US" sz="2000" b="1" dirty="0"/>
              <a:t>개수 무시하여 표현력이 약함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/>
              <a:t>GraphSAGE</a:t>
            </a:r>
            <a:endParaRPr lang="en-US" altLang="ko-KR" sz="2000" b="1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이웃</a:t>
            </a:r>
            <a:r>
              <a:rPr lang="en-US" altLang="ko-KR" sz="2000" dirty="0"/>
              <a:t> </a:t>
            </a:r>
            <a:r>
              <a:rPr lang="ko-KR" altLang="en-US" sz="2000" b="1" dirty="0"/>
              <a:t>샘플링</a:t>
            </a:r>
            <a:r>
              <a:rPr lang="ko-KR" altLang="en-US" sz="2000" dirty="0"/>
              <a:t>이 </a:t>
            </a:r>
            <a:r>
              <a:rPr lang="en-US" altLang="ko-KR" sz="2000" dirty="0"/>
              <a:t>f</a:t>
            </a:r>
            <a:r>
              <a:rPr lang="ko-KR" altLang="en-US" sz="2000" dirty="0"/>
              <a:t>함수</a:t>
            </a:r>
            <a:r>
              <a:rPr lang="en-US" altLang="ko-KR" sz="2000" dirty="0"/>
              <a:t>, </a:t>
            </a:r>
            <a:r>
              <a:rPr lang="ko-KR" altLang="en-US" sz="2000" dirty="0"/>
              <a:t>결합은 세가지 옵션</a:t>
            </a:r>
            <a:r>
              <a:rPr lang="en-US" altLang="ko-KR" sz="2000" dirty="0"/>
              <a:t>(</a:t>
            </a:r>
            <a:r>
              <a:rPr lang="ko-KR" altLang="en-US" sz="2000" dirty="0"/>
              <a:t>평균</a:t>
            </a:r>
            <a:r>
              <a:rPr lang="en-US" altLang="ko-KR" sz="2000" dirty="0"/>
              <a:t>, LSTM, </a:t>
            </a:r>
            <a:r>
              <a:rPr lang="ko-KR" altLang="en-US" sz="2000" dirty="0"/>
              <a:t>최대</a:t>
            </a:r>
            <a:r>
              <a:rPr lang="en-US" altLang="ko-KR" sz="2000" dirty="0"/>
              <a:t>) </a:t>
            </a:r>
            <a:r>
              <a:rPr lang="ko-KR" altLang="en-US" sz="2000" dirty="0"/>
              <a:t>중 선택 가능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그렇다면 </a:t>
            </a:r>
            <a:r>
              <a:rPr lang="en-US" altLang="ko-KR" sz="2000" b="1" dirty="0">
                <a:highlight>
                  <a:srgbClr val="FFFF00"/>
                </a:highlight>
              </a:rPr>
              <a:t>GIN</a:t>
            </a:r>
            <a:r>
              <a:rPr lang="ko-KR" altLang="en-US" sz="2000" b="1" dirty="0">
                <a:highlight>
                  <a:srgbClr val="FFFF00"/>
                </a:highlight>
              </a:rPr>
              <a:t>은 무엇이 달라야 하는가</a:t>
            </a:r>
            <a:r>
              <a:rPr lang="en-US" altLang="ko-KR" sz="2000" b="1" dirty="0">
                <a:highlight>
                  <a:srgbClr val="FFFF00"/>
                </a:highlight>
              </a:rPr>
              <a:t>?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f</a:t>
            </a:r>
            <a:r>
              <a:rPr lang="ko-KR" altLang="en-US" sz="2000" dirty="0"/>
              <a:t>와 </a:t>
            </a:r>
            <a:r>
              <a:rPr lang="el-GR" altLang="ko-KR" sz="2000" dirty="0"/>
              <a:t>φ</a:t>
            </a:r>
            <a:r>
              <a:rPr lang="ko-KR" altLang="en-US" sz="2000" dirty="0"/>
              <a:t>는 </a:t>
            </a:r>
            <a:r>
              <a:rPr lang="ko-KR" altLang="en-US" sz="2000" b="1" u="sng" dirty="0"/>
              <a:t>반드시 단사</a:t>
            </a:r>
            <a:r>
              <a:rPr lang="en-US" altLang="ko-KR" sz="2000" b="1" u="sng" dirty="0"/>
              <a:t>(injective)</a:t>
            </a:r>
            <a:r>
              <a:rPr lang="ko-KR" altLang="en-US" sz="2000" b="1" u="sng" dirty="0"/>
              <a:t>함수</a:t>
            </a:r>
            <a:r>
              <a:rPr lang="ko-KR" altLang="en-US" sz="2000" dirty="0"/>
              <a:t>여야 함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en-US" sz="2000" dirty="0" err="1"/>
              <a:t>임베딩이</a:t>
            </a:r>
            <a:r>
              <a:rPr lang="ko-KR" altLang="en-US" sz="2000" dirty="0"/>
              <a:t> 적은 정보를 가지고 있기 때문에</a:t>
            </a:r>
            <a:br>
              <a:rPr lang="en-US" altLang="ko-KR" sz="2000" dirty="0"/>
            </a:br>
            <a:r>
              <a:rPr lang="ko-KR" altLang="en-US" sz="2000" dirty="0" err="1"/>
              <a:t>임베딩의</a:t>
            </a:r>
            <a:r>
              <a:rPr lang="ko-KR" altLang="en-US" sz="2000" dirty="0"/>
              <a:t> 가치를 지키기 위함</a:t>
            </a:r>
            <a:r>
              <a:rPr lang="en-US" altLang="ko-KR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C166BD-FEF6-2A27-FC0E-A0E8F5D16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032" y="3630319"/>
            <a:ext cx="4184865" cy="26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5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BED7-E7FB-91B8-3E94-B0A45D7E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E367484-C273-DC9F-AFEE-FA2B705652B8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239EDF-173C-9BC5-013D-70868E85F869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9/15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E71AAC-20D8-6115-39BA-F789F1AFFCFC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소개하기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4E913-AF3E-B930-80C2-97D3D1B0DE53}"/>
              </a:ext>
            </a:extLst>
          </p:cNvPr>
          <p:cNvSpPr txBox="1"/>
          <p:nvPr/>
        </p:nvSpPr>
        <p:spPr>
          <a:xfrm>
            <a:off x="385271" y="931088"/>
            <a:ext cx="11102109" cy="4187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sz="2000" dirty="0"/>
              <a:t>ε</a:t>
            </a:r>
            <a:r>
              <a:rPr lang="ko-KR" altLang="en-US" sz="2000" dirty="0"/>
              <a:t>은 가중치 조절</a:t>
            </a:r>
            <a:r>
              <a:rPr lang="en-US" altLang="ko-KR" sz="2000" dirty="0"/>
              <a:t>(</a:t>
            </a:r>
            <a:r>
              <a:rPr lang="ko-KR" altLang="en-US" sz="2000" dirty="0"/>
              <a:t>자기 자신을 이웃에 비해 얼마나 중요하게 볼 것인지</a:t>
            </a:r>
            <a:r>
              <a:rPr lang="en-US" altLang="ko-KR" sz="20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보편 근사 정리에 따라</a:t>
            </a:r>
            <a:r>
              <a:rPr lang="en-US" altLang="ko-KR" sz="2000" dirty="0"/>
              <a:t>, </a:t>
            </a:r>
            <a:r>
              <a:rPr lang="ko-KR" altLang="en-US" sz="2000" b="1" dirty="0"/>
              <a:t>신경망</a:t>
            </a:r>
            <a:r>
              <a:rPr lang="en-US" altLang="ko-KR" sz="2000" b="1" dirty="0"/>
              <a:t>(MLP)</a:t>
            </a:r>
            <a:r>
              <a:rPr lang="ko-KR" altLang="en-US" sz="2000" b="1" dirty="0"/>
              <a:t>는 단사 함수</a:t>
            </a:r>
            <a:r>
              <a:rPr lang="ko-KR" altLang="en-US" sz="2000" dirty="0"/>
              <a:t>도 근사할 수 있음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MLP</a:t>
            </a:r>
            <a:r>
              <a:rPr lang="ko-KR" altLang="en-US" sz="2000" dirty="0"/>
              <a:t>가 </a:t>
            </a:r>
            <a:r>
              <a:rPr lang="en-US" altLang="ko-KR" sz="2000" dirty="0"/>
              <a:t>1</a:t>
            </a:r>
            <a:r>
              <a:rPr lang="ko-KR" altLang="en-US" sz="2000" dirty="0"/>
              <a:t>개 이상의 레이어</a:t>
            </a:r>
            <a:r>
              <a:rPr lang="en-US" altLang="ko-KR" sz="2000" dirty="0"/>
              <a:t>(</a:t>
            </a:r>
            <a:r>
              <a:rPr lang="ko-KR" altLang="en-US" sz="2000" dirty="0"/>
              <a:t>한번 변환</a:t>
            </a:r>
            <a:r>
              <a:rPr lang="en-US" altLang="ko-KR" sz="2000" dirty="0"/>
              <a:t>)</a:t>
            </a:r>
            <a:r>
              <a:rPr lang="ko-KR" altLang="en-US" sz="2000" dirty="0"/>
              <a:t>를 가져야만 비로소</a:t>
            </a:r>
            <a:r>
              <a:rPr lang="en-US" altLang="ko-KR" sz="20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보편 근사 정리가 적용되고 →</a:t>
            </a:r>
            <a:r>
              <a:rPr lang="en-US" altLang="ko-KR" sz="2000" dirty="0"/>
              <a:t> </a:t>
            </a:r>
            <a:r>
              <a:rPr lang="ko-KR" altLang="en-US" sz="2000" dirty="0"/>
              <a:t>단사 함수를 근사할 수 있음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복잡한 그래프 구조도 구분 가능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 err="1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07DAEB-030F-CDEB-2A0F-0D5E9A6A0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13" y="930015"/>
            <a:ext cx="3048157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54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867E-637F-87E6-157D-DCDFBA7B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39F9565-09E0-E02E-4862-AB8E6D285B21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BD3C1-34B4-285D-5DDF-2555536F6A2A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410171-3243-0D48-EF74-7BE9FC4BAD58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소개하기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3E110-9898-E43A-070B-DDD6F12C2990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FFF00"/>
                </a:highlight>
              </a:rPr>
              <a:t>WL</a:t>
            </a:r>
            <a:r>
              <a:rPr lang="ko-KR" altLang="en-US" sz="2000" b="1" dirty="0">
                <a:highlight>
                  <a:srgbClr val="FFFF00"/>
                </a:highlight>
              </a:rPr>
              <a:t> 테스트를 뛰어 넘을 수 있는가</a:t>
            </a:r>
            <a:r>
              <a:rPr lang="en-US" altLang="ko-KR" sz="2000" b="1" dirty="0">
                <a:highlight>
                  <a:srgbClr val="FFFF00"/>
                </a:highlight>
              </a:rPr>
              <a:t>?</a:t>
            </a:r>
            <a:r>
              <a:rPr lang="en-US" altLang="ko-KR" sz="2000" b="1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k-WL: </a:t>
            </a:r>
            <a:r>
              <a:rPr lang="ko-KR" altLang="en-US" sz="2000" dirty="0"/>
              <a:t>노드 하나 말고</a:t>
            </a:r>
            <a:r>
              <a:rPr lang="en-US" altLang="ko-KR" sz="2000" dirty="0"/>
              <a:t>, k</a:t>
            </a:r>
            <a:r>
              <a:rPr lang="ko-KR" altLang="en-US" sz="2000" dirty="0"/>
              <a:t>개의 묶음을 보면 더 많은 그래프 구조를 구분 가능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k&gt;=2</a:t>
            </a:r>
            <a:r>
              <a:rPr lang="ko-KR" altLang="en-US" sz="2000" dirty="0"/>
              <a:t>일 때</a:t>
            </a:r>
            <a:r>
              <a:rPr lang="en-US" altLang="ko-KR" sz="2000" dirty="0"/>
              <a:t>, (k+1)-WL </a:t>
            </a:r>
            <a:r>
              <a:rPr lang="ko-KR" altLang="en-US" sz="2000" dirty="0"/>
              <a:t>테스트는 </a:t>
            </a:r>
            <a:r>
              <a:rPr lang="en-US" altLang="ko-KR" sz="2000" dirty="0"/>
              <a:t>k-WL</a:t>
            </a:r>
            <a:r>
              <a:rPr lang="ko-KR" altLang="en-US" sz="2000" dirty="0"/>
              <a:t> 테스트에 비해 </a:t>
            </a:r>
            <a:r>
              <a:rPr lang="ko-KR" altLang="en-US" sz="2000" b="1" u="sng" dirty="0"/>
              <a:t>더 높은 표현력을 가짐</a:t>
            </a:r>
            <a:endParaRPr lang="en-US" altLang="ko-KR" sz="2000" b="1" u="sng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k-WL</a:t>
            </a:r>
            <a:r>
              <a:rPr lang="ko-KR" altLang="en-US" sz="2000" dirty="0"/>
              <a:t>이 더 강력하면</a:t>
            </a:r>
            <a:r>
              <a:rPr lang="en-US" altLang="ko-KR" sz="2000" dirty="0"/>
              <a:t>, GNN</a:t>
            </a:r>
            <a:r>
              <a:rPr lang="ko-KR" altLang="en-US" sz="2000" dirty="0"/>
              <a:t>도 더 강력한 </a:t>
            </a:r>
            <a:r>
              <a:rPr lang="en-US" altLang="ko-KR" sz="2000" b="1" u="sng" dirty="0"/>
              <a:t>k-GNN</a:t>
            </a:r>
            <a:r>
              <a:rPr lang="ko-KR" altLang="en-US" sz="2000" b="1" u="sng" dirty="0"/>
              <a:t>이 가능할 것이라 제안</a:t>
            </a:r>
            <a:endParaRPr lang="en-US" altLang="ko-KR" sz="2000" b="1" u="sng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u="sng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다만 실제 데이터에서 떨어지는 성능을 보이는 경향이 있음</a:t>
            </a:r>
            <a:endParaRPr lang="en-US" altLang="ko-KR" sz="20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이론적 표현력 </a:t>
            </a:r>
            <a:r>
              <a:rPr lang="en-US" altLang="ko-KR" sz="2000" dirty="0"/>
              <a:t>!=</a:t>
            </a:r>
            <a:r>
              <a:rPr lang="ko-KR" altLang="en-US" sz="2000" dirty="0"/>
              <a:t> 실제 성능</a:t>
            </a:r>
            <a:endParaRPr lang="en-US" altLang="ko-KR" sz="20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u="sng" dirty="0"/>
              <a:t>GIN (=1-WL</a:t>
            </a:r>
            <a:r>
              <a:rPr lang="ko-KR" altLang="en-US" sz="2000" b="1" u="sng" dirty="0"/>
              <a:t> 테스트 수준과 동등</a:t>
            </a:r>
            <a:r>
              <a:rPr lang="en-US" altLang="ko-KR" sz="2000" b="1" u="sng" dirty="0"/>
              <a:t>)</a:t>
            </a:r>
            <a:r>
              <a:rPr lang="ko-KR" altLang="en-US" sz="2000" b="1" u="sng" dirty="0"/>
              <a:t>보다 더 나은 모델이 있기는 하나</a:t>
            </a:r>
            <a:r>
              <a:rPr lang="en-US" altLang="ko-KR" sz="2000" b="1" u="sng" dirty="0"/>
              <a:t>,</a:t>
            </a:r>
            <a:br>
              <a:rPr lang="en-US" altLang="ko-KR" sz="2000" b="1" u="sng" dirty="0"/>
            </a:br>
            <a:r>
              <a:rPr lang="ko-KR" altLang="en-US" sz="2000" b="1" u="sng" dirty="0"/>
              <a:t>실제 성능은 의외로 떨어진다는 결론</a:t>
            </a:r>
            <a:r>
              <a:rPr lang="en-US" altLang="ko-KR" sz="2000" b="1" u="sng" dirty="0"/>
              <a:t>. </a:t>
            </a:r>
            <a:r>
              <a:rPr lang="ko-KR" altLang="en-US" sz="2000" b="1" u="sng" dirty="0"/>
              <a:t>특정 작업</a:t>
            </a:r>
            <a:r>
              <a:rPr lang="en-US" altLang="ko-KR" sz="2000" b="1" u="sng" dirty="0"/>
              <a:t>(</a:t>
            </a:r>
            <a:r>
              <a:rPr lang="ko-KR" altLang="en-US" sz="2000" b="1" u="sng" dirty="0"/>
              <a:t>그래프 분류</a:t>
            </a:r>
            <a:r>
              <a:rPr lang="en-US" altLang="ko-KR" sz="2000" b="1" u="sng" dirty="0"/>
              <a:t>)</a:t>
            </a:r>
            <a:r>
              <a:rPr lang="ko-KR" altLang="en-US" sz="2000" b="1" u="sng" dirty="0"/>
              <a:t>에선 유용할 수 있음</a:t>
            </a:r>
            <a:endParaRPr lang="en-US" altLang="ko-KR" sz="2000" b="1" u="sng" dirty="0"/>
          </a:p>
        </p:txBody>
      </p:sp>
    </p:spTree>
    <p:extLst>
      <p:ext uri="{BB962C8B-B14F-4D97-AF65-F5344CB8AC3E}">
        <p14:creationId xmlns:p14="http://schemas.microsoft.com/office/powerpoint/2010/main" val="294130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EE92-74DD-8BDB-0E22-DD814457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02AB13F-C324-F2C1-6D89-BF306341DE00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005740-4924-2549-5C42-60F780616608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11/15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89B7C1-0577-D2C7-7247-12598FAA55F9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이용한 그래프 분류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DB99D-324A-6124-34F5-73D55EA74934}"/>
              </a:ext>
            </a:extLst>
          </p:cNvPr>
          <p:cNvSpPr txBox="1"/>
          <p:nvPr/>
        </p:nvSpPr>
        <p:spPr>
          <a:xfrm>
            <a:off x="385271" y="931088"/>
            <a:ext cx="11102109" cy="4187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GIN</a:t>
            </a:r>
            <a:r>
              <a:rPr lang="ko-KR" altLang="en-US" sz="2000" dirty="0"/>
              <a:t>은 노드 분류보다는 </a:t>
            </a:r>
            <a:r>
              <a:rPr lang="ko-KR" altLang="en-US" sz="2000" b="1" u="sng" dirty="0"/>
              <a:t>그래프 분류</a:t>
            </a:r>
            <a:r>
              <a:rPr lang="ko-KR" altLang="en-US" sz="2000" dirty="0"/>
              <a:t>에 있어 더욱 흥미로운 신경망 구조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전역 </a:t>
            </a:r>
            <a:r>
              <a:rPr lang="ko-KR" altLang="en-US" sz="2000" dirty="0" err="1"/>
              <a:t>풀링</a:t>
            </a:r>
            <a:r>
              <a:rPr lang="en-US" altLang="ko-KR" sz="2000" dirty="0"/>
              <a:t>(global pooling): </a:t>
            </a:r>
            <a:r>
              <a:rPr lang="ko-KR" altLang="en-US" sz="2000" dirty="0"/>
              <a:t>그래프의 모든 노드 정보를 하나로 모아서 그래프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세 가지 전역 </a:t>
            </a:r>
            <a:r>
              <a:rPr lang="ko-KR" altLang="en-US" sz="2000" b="1" dirty="0" err="1"/>
              <a:t>풀링</a:t>
            </a:r>
            <a:r>
              <a:rPr lang="ko-KR" altLang="en-US" sz="2000" b="1" dirty="0"/>
              <a:t> 방법</a:t>
            </a:r>
            <a:endParaRPr lang="en-US" altLang="ko-KR" sz="2000" b="1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평균 그래프 </a:t>
            </a:r>
            <a:r>
              <a:rPr lang="ko-KR" altLang="en-US" sz="2000" dirty="0" err="1"/>
              <a:t>풀링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최댓값 그래프 </a:t>
            </a:r>
            <a:r>
              <a:rPr lang="ko-KR" altLang="en-US" sz="2000" dirty="0" err="1"/>
              <a:t>풀링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합산 그래프 </a:t>
            </a:r>
            <a:r>
              <a:rPr lang="ko-KR" altLang="en-US" sz="2000" dirty="0" err="1"/>
              <a:t>풀링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합산</a:t>
            </a:r>
            <a:r>
              <a:rPr lang="en-US" altLang="ko-KR" sz="2000" dirty="0"/>
              <a:t> </a:t>
            </a:r>
            <a:r>
              <a:rPr lang="ko-KR" altLang="en-US" sz="2000" dirty="0"/>
              <a:t>그래프 </a:t>
            </a:r>
            <a:r>
              <a:rPr lang="ko-KR" altLang="en-US" sz="2000" dirty="0" err="1"/>
              <a:t>풀링의</a:t>
            </a:r>
            <a:r>
              <a:rPr lang="ko-KR" altLang="en-US" sz="2000" dirty="0"/>
              <a:t> 결과 연결</a:t>
            </a:r>
            <a:r>
              <a:rPr lang="en-US" altLang="ko-KR" sz="2000" dirty="0"/>
              <a:t>: </a:t>
            </a:r>
            <a:r>
              <a:rPr lang="ko-KR" altLang="en-US" sz="2000" b="1" u="sng" dirty="0"/>
              <a:t>합연산의 표현력과 연결에서 얻을 수 있는 레이어 정보 결합</a:t>
            </a:r>
            <a:endParaRPr lang="en-US" altLang="ko-KR" sz="2000" b="1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1CAF60-3C8C-70B6-5C06-3B2D68E1A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923" y="2718410"/>
            <a:ext cx="1016052" cy="5969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E28373C-AF84-7230-7343-BA06C5FC0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782" y="3381690"/>
            <a:ext cx="1054154" cy="2476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E0F3806-8668-36F8-AED4-8574C2310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483" y="3670302"/>
            <a:ext cx="838243" cy="5842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81208E0-FA8A-FA3D-62FD-31CFBF7B2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09" y="5246270"/>
            <a:ext cx="1949550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2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F1478-7344-8156-CD52-7B547AFF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CBF579-B5DD-AF9A-A417-FC40DDA69365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DFD173-F2B8-F001-E139-8F087E12B58A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12/15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E19C69-9C69-20EC-CEDB-C1A28127162A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4E653-2CB4-4CAF-201E-45AC348E1E0F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PROTEINS </a:t>
            </a:r>
            <a:r>
              <a:rPr lang="ko-KR" altLang="en-US" sz="2000" b="1" dirty="0"/>
              <a:t>데이터셋</a:t>
            </a:r>
            <a:r>
              <a:rPr lang="ko-KR" altLang="en-US" sz="2000" dirty="0"/>
              <a:t>을 활용해 실습 진행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전체 그래프 수</a:t>
            </a:r>
            <a:r>
              <a:rPr lang="en-US" altLang="ko-KR" sz="2000" dirty="0"/>
              <a:t>: 1,113</a:t>
            </a:r>
            <a:r>
              <a:rPr lang="ko-KR" altLang="en-US" sz="2000" dirty="0"/>
              <a:t>개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그래프</a:t>
            </a:r>
            <a:r>
              <a:rPr lang="en-US" altLang="ko-KR" sz="2000" dirty="0"/>
              <a:t>: </a:t>
            </a:r>
            <a:r>
              <a:rPr lang="ko-KR" altLang="en-US" sz="2000" dirty="0"/>
              <a:t>단백질 </a:t>
            </a:r>
            <a:r>
              <a:rPr lang="en-US" altLang="ko-KR" sz="2000" dirty="0"/>
              <a:t>1</a:t>
            </a:r>
            <a:r>
              <a:rPr lang="ko-KR" altLang="en-US" sz="2000" dirty="0"/>
              <a:t>개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노드</a:t>
            </a:r>
            <a:r>
              <a:rPr lang="en-US" altLang="ko-KR" sz="2000" dirty="0"/>
              <a:t>: </a:t>
            </a:r>
            <a:r>
              <a:rPr lang="ko-KR" altLang="en-US" sz="2000" dirty="0"/>
              <a:t>아미노산 </a:t>
            </a:r>
            <a:r>
              <a:rPr lang="en-US" altLang="ko-KR" sz="2000" dirty="0"/>
              <a:t>1</a:t>
            </a:r>
            <a:r>
              <a:rPr lang="ko-KR" altLang="en-US" sz="2000" dirty="0"/>
              <a:t>개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간선</a:t>
            </a:r>
            <a:r>
              <a:rPr lang="en-US" altLang="ko-KR" sz="2000" dirty="0"/>
              <a:t>(edge): </a:t>
            </a:r>
            <a:r>
              <a:rPr lang="ko-KR" altLang="en-US" sz="2000" dirty="0"/>
              <a:t>두 아미노산의 거리가 </a:t>
            </a:r>
            <a:r>
              <a:rPr lang="en-US" altLang="ko-KR" sz="2000" dirty="0"/>
              <a:t>0.6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나노미터이하일</a:t>
            </a:r>
            <a:r>
              <a:rPr lang="ko-KR" altLang="en-US" sz="2000" dirty="0"/>
              <a:t> 때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분류 목표</a:t>
            </a:r>
            <a:r>
              <a:rPr lang="en-US" altLang="ko-KR" sz="2000" dirty="0"/>
              <a:t>: </a:t>
            </a:r>
            <a:r>
              <a:rPr lang="ko-KR" altLang="en-US" sz="2000" dirty="0"/>
              <a:t>이 단백질이 효소인가</a:t>
            </a:r>
            <a:r>
              <a:rPr lang="en-US" altLang="ko-KR" sz="2000" dirty="0"/>
              <a:t>, </a:t>
            </a:r>
            <a:r>
              <a:rPr lang="ko-KR" altLang="en-US" sz="2000" dirty="0"/>
              <a:t>아닌가</a:t>
            </a:r>
            <a:r>
              <a:rPr lang="en-US" altLang="ko-KR" sz="2000" dirty="0"/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GIN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vs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GCN</a:t>
            </a:r>
            <a:r>
              <a:rPr lang="ko-KR" altLang="en-US" sz="2000" b="1" dirty="0"/>
              <a:t> 성능 비교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이론을 실제 데이터에 적용하여 </a:t>
            </a:r>
            <a:r>
              <a:rPr lang="en-US" altLang="ko-KR" sz="2000" dirty="0"/>
              <a:t>GIN</a:t>
            </a:r>
            <a:r>
              <a:rPr lang="ko-KR" altLang="en-US" sz="2000" dirty="0"/>
              <a:t>의 강점이 실제로 나타나는지 확인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CFB369-9476-E028-2A40-077D57AE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62" y="955161"/>
            <a:ext cx="3270418" cy="33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5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50E8-940E-8EA4-B2D0-118A2915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AF4157-B16C-ABBD-BF21-8205C1BDDD90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C08C3E-608C-1728-F3A8-41A0A70455C9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13/15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22D775-5C79-2C1C-6388-14BD2007CCB6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7A0-8059-6808-7D71-BCF28949CF58}"/>
              </a:ext>
            </a:extLst>
          </p:cNvPr>
          <p:cNvSpPr txBox="1"/>
          <p:nvPr/>
        </p:nvSpPr>
        <p:spPr>
          <a:xfrm>
            <a:off x="385272" y="931088"/>
            <a:ext cx="4952182" cy="95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GIN </a:t>
            </a:r>
            <a:r>
              <a:rPr lang="ko-KR" altLang="en-US" sz="2000" b="1" dirty="0"/>
              <a:t>모델 구조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3DBA97-7B77-3EEE-C8AD-4F368E7DF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82" y="1447733"/>
            <a:ext cx="4952182" cy="4076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BE3109-3E31-94C1-478A-413C3BD3A37B}"/>
              </a:ext>
            </a:extLst>
          </p:cNvPr>
          <p:cNvSpPr txBox="1"/>
          <p:nvPr/>
        </p:nvSpPr>
        <p:spPr>
          <a:xfrm>
            <a:off x="5667606" y="931088"/>
            <a:ext cx="4952182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전역 </a:t>
            </a:r>
            <a:r>
              <a:rPr lang="ko-KR" altLang="en-US" sz="2000" b="1" dirty="0" err="1"/>
              <a:t>풀링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+ </a:t>
            </a:r>
            <a:r>
              <a:rPr lang="ko-KR" altLang="en-US" sz="2000" b="1" dirty="0"/>
              <a:t>레이어 연결</a:t>
            </a: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B77E83E-730E-72E5-A77E-EC93C9103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606" y="1447733"/>
            <a:ext cx="6139122" cy="46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0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098F-6694-9AA0-3BC8-0A4225F4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D53ED0E-2090-11B8-ACCA-72C976D89DC0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3D2463-53CF-EA08-E592-17A221E1D2D2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14/15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6D01F0-2479-C357-8B73-FE98A6EB5A2B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GIN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618AA-3DA3-5EC9-2C7C-4DE460817520}"/>
              </a:ext>
            </a:extLst>
          </p:cNvPr>
          <p:cNvSpPr txBox="1"/>
          <p:nvPr/>
        </p:nvSpPr>
        <p:spPr>
          <a:xfrm>
            <a:off x="385271" y="931088"/>
            <a:ext cx="11102109" cy="8804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실습 결과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GCN 100</a:t>
            </a:r>
            <a:r>
              <a:rPr lang="ko-KR" altLang="en-US" sz="2000" dirty="0"/>
              <a:t>번 실험 결과</a:t>
            </a:r>
            <a:r>
              <a:rPr lang="en-US" altLang="ko-KR" sz="2000" dirty="0"/>
              <a:t>: </a:t>
            </a:r>
            <a:r>
              <a:rPr lang="ko-KR" altLang="en-US" sz="2000" dirty="0"/>
              <a:t>평균 </a:t>
            </a:r>
            <a:r>
              <a:rPr lang="en-US" altLang="ko-KR" sz="2000" dirty="0"/>
              <a:t>53.72% (+-</a:t>
            </a:r>
            <a:r>
              <a:rPr lang="ko-KR" altLang="en-US" sz="2000" dirty="0"/>
              <a:t> </a:t>
            </a:r>
            <a:r>
              <a:rPr lang="en-US" altLang="ko-KR" sz="2000" dirty="0"/>
              <a:t>0.73%)</a:t>
            </a:r>
            <a:r>
              <a:rPr lang="ko-KR" altLang="en-US" sz="2000" dirty="0"/>
              <a:t> 정확도 성능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GIN </a:t>
            </a:r>
            <a:r>
              <a:rPr lang="ko-KR" altLang="en-US" sz="2000" b="1" dirty="0"/>
              <a:t>실험결과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평균 </a:t>
            </a:r>
            <a:r>
              <a:rPr lang="en-US" altLang="ko-KR" sz="2000" b="1" dirty="0"/>
              <a:t>76.56% (+- 1.77%)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두 모델의 오답을 시각화</a:t>
            </a:r>
            <a:r>
              <a:rPr lang="en-US" altLang="ko-KR" sz="2000" b="1" dirty="0"/>
              <a:t>: </a:t>
            </a:r>
            <a:r>
              <a:rPr lang="ko-KR" altLang="en-US" sz="2000" b="1" dirty="0">
                <a:highlight>
                  <a:srgbClr val="FFFF00"/>
                </a:highlight>
              </a:rPr>
              <a:t>초록색</a:t>
            </a:r>
            <a:r>
              <a:rPr lang="en-US" altLang="ko-KR" sz="2000" b="1" dirty="0">
                <a:highlight>
                  <a:srgbClr val="FFFF00"/>
                </a:highlight>
              </a:rPr>
              <a:t>-</a:t>
            </a:r>
            <a:r>
              <a:rPr lang="ko-KR" altLang="en-US" sz="2000" b="1" dirty="0">
                <a:highlight>
                  <a:srgbClr val="FFFF00"/>
                </a:highlight>
              </a:rPr>
              <a:t>정답</a:t>
            </a:r>
            <a:r>
              <a:rPr lang="en-US" altLang="ko-KR" sz="2000" b="1" dirty="0">
                <a:highlight>
                  <a:srgbClr val="FFFF00"/>
                </a:highlight>
              </a:rPr>
              <a:t>, </a:t>
            </a:r>
            <a:r>
              <a:rPr lang="ko-KR" altLang="en-US" sz="2000" b="1" dirty="0">
                <a:highlight>
                  <a:srgbClr val="FFFF00"/>
                </a:highlight>
              </a:rPr>
              <a:t>빨간색</a:t>
            </a:r>
            <a:r>
              <a:rPr lang="en-US" altLang="ko-KR" sz="2000" b="1" dirty="0">
                <a:highlight>
                  <a:srgbClr val="FFFF00"/>
                </a:highlight>
              </a:rPr>
              <a:t>-</a:t>
            </a:r>
            <a:r>
              <a:rPr lang="ko-KR" altLang="en-US" sz="2000" b="1" dirty="0">
                <a:highlight>
                  <a:srgbClr val="FFFF00"/>
                </a:highlight>
              </a:rPr>
              <a:t>오답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단순 모델 평균화</a:t>
            </a:r>
            <a:r>
              <a:rPr lang="en-US" altLang="ko-KR" sz="2000" b="1" dirty="0"/>
              <a:t>: </a:t>
            </a:r>
            <a:r>
              <a:rPr lang="ko-KR" altLang="en-US" sz="2000" dirty="0"/>
              <a:t>두 모델</a:t>
            </a:r>
            <a:r>
              <a:rPr lang="en-US" altLang="ko-KR" sz="2000" dirty="0"/>
              <a:t>(</a:t>
            </a:r>
            <a:r>
              <a:rPr lang="ko-KR" altLang="en-US" sz="2000" dirty="0"/>
              <a:t>각 </a:t>
            </a:r>
            <a:r>
              <a:rPr lang="en-US" altLang="ko-KR" sz="2000" dirty="0"/>
              <a:t>72.14%, 80.99%)</a:t>
            </a:r>
            <a:r>
              <a:rPr lang="ko-KR" altLang="en-US" sz="2000" dirty="0"/>
              <a:t>을 능가하는 </a:t>
            </a:r>
            <a:r>
              <a:rPr lang="en-US" altLang="ko-KR" sz="2000" dirty="0"/>
              <a:t>81.25%</a:t>
            </a:r>
            <a:r>
              <a:rPr lang="ko-KR" altLang="en-US" sz="2000" dirty="0"/>
              <a:t>의 정확도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highlight>
                <a:srgbClr val="FFFF00"/>
              </a:highlight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788D170-F72C-BCE9-3841-A4353CD887E7}"/>
              </a:ext>
            </a:extLst>
          </p:cNvPr>
          <p:cNvGrpSpPr/>
          <p:nvPr/>
        </p:nvGrpSpPr>
        <p:grpSpPr>
          <a:xfrm>
            <a:off x="880658" y="2789836"/>
            <a:ext cx="5623174" cy="2594075"/>
            <a:chOff x="2718043" y="3429000"/>
            <a:chExt cx="6155501" cy="28859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5A9CD33-B1F4-0D54-5CF3-2ABB13EDE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8043" y="3429000"/>
              <a:ext cx="2799017" cy="288596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2DF6B73-710A-E407-317E-88953DEF0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1605" y="3429000"/>
              <a:ext cx="2841939" cy="2847663"/>
            </a:xfrm>
            <a:prstGeom prst="rect">
              <a:avLst/>
            </a:prstGeom>
          </p:spPr>
        </p:pic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2BFCD43-6D57-4E64-AA35-AD8932022ECE}"/>
                </a:ext>
              </a:extLst>
            </p:cNvPr>
            <p:cNvCxnSpPr/>
            <p:nvPr/>
          </p:nvCxnSpPr>
          <p:spPr>
            <a:xfrm>
              <a:off x="5743977" y="3481589"/>
              <a:ext cx="0" cy="2795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698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B0DE-6840-A312-294E-AA03A61C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E435A07-78E5-DC21-75A5-F44587E1C8F2}"/>
              </a:ext>
            </a:extLst>
          </p:cNvPr>
          <p:cNvSpPr/>
          <p:nvPr/>
        </p:nvSpPr>
        <p:spPr>
          <a:xfrm>
            <a:off x="-1" y="6483927"/>
            <a:ext cx="11102109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Ch9.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그래프 분류를 위한 표현력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7B3494-179B-0369-E74C-C8A3C7D38CBC}"/>
              </a:ext>
            </a:extLst>
          </p:cNvPr>
          <p:cNvSpPr/>
          <p:nvPr/>
        </p:nvSpPr>
        <p:spPr>
          <a:xfrm>
            <a:off x="11102109" y="6483927"/>
            <a:ext cx="1089891" cy="3740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15/15</a:t>
            </a:r>
            <a:endParaRPr lang="ko-KR" altLang="en-US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64F260-CB56-9FA0-99BB-AAF656197EBA}"/>
              </a:ext>
            </a:extLst>
          </p:cNvPr>
          <p:cNvSpPr/>
          <p:nvPr/>
        </p:nvSpPr>
        <p:spPr>
          <a:xfrm>
            <a:off x="-2" y="0"/>
            <a:ext cx="12192002" cy="6276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2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요약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79F19-D234-3E03-682E-0734BFF3CEDA}"/>
              </a:ext>
            </a:extLst>
          </p:cNvPr>
          <p:cNvSpPr txBox="1"/>
          <p:nvPr/>
        </p:nvSpPr>
        <p:spPr>
          <a:xfrm>
            <a:off x="385271" y="931088"/>
            <a:ext cx="11102109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highlight>
                  <a:srgbClr val="FFFF00"/>
                </a:highlight>
              </a:rPr>
              <a:t>표현력 정의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표현력</a:t>
            </a:r>
            <a:r>
              <a:rPr lang="en-US" altLang="ko-KR" sz="2000" b="1" dirty="0"/>
              <a:t>: </a:t>
            </a:r>
            <a:r>
              <a:rPr lang="ko-KR" altLang="en-US" sz="2000" dirty="0"/>
              <a:t>다른 그래프를 다르게 구분하는 능력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WL </a:t>
            </a:r>
            <a:r>
              <a:rPr lang="ko-KR" altLang="en-US" sz="2000" b="1" dirty="0"/>
              <a:t>테스트</a:t>
            </a:r>
            <a:r>
              <a:rPr lang="en-US" altLang="ko-KR" sz="2000" b="1" dirty="0"/>
              <a:t>: </a:t>
            </a:r>
            <a:r>
              <a:rPr lang="ko-KR" altLang="en-US" sz="2000" dirty="0"/>
              <a:t>그래프 표현력의 기준점 역할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FFF00"/>
                </a:highlight>
              </a:rPr>
              <a:t>GIN </a:t>
            </a:r>
            <a:r>
              <a:rPr lang="ko-KR" altLang="en-US" sz="2000" b="1" dirty="0">
                <a:highlight>
                  <a:srgbClr val="FFFF00"/>
                </a:highlight>
              </a:rPr>
              <a:t>소개하기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합 </a:t>
            </a:r>
            <a:r>
              <a:rPr lang="ko-KR" altLang="en-US" sz="2000" dirty="0" err="1"/>
              <a:t>집계기</a:t>
            </a:r>
            <a:r>
              <a:rPr lang="ko-KR" altLang="en-US" sz="2000" dirty="0"/>
              <a:t> </a:t>
            </a:r>
            <a:r>
              <a:rPr lang="en-US" altLang="ko-KR" sz="2000" dirty="0"/>
              <a:t>+</a:t>
            </a:r>
            <a:r>
              <a:rPr lang="ko-KR" altLang="en-US" sz="2000" dirty="0"/>
              <a:t> 결합 </a:t>
            </a:r>
            <a:r>
              <a:rPr lang="en-US" altLang="ko-KR" sz="2000" dirty="0"/>
              <a:t>+ </a:t>
            </a:r>
            <a:r>
              <a:rPr lang="ko-KR" altLang="en-US" sz="2000" dirty="0"/>
              <a:t>단사 함수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GIN &gt; GCN, GAT, </a:t>
            </a:r>
            <a:r>
              <a:rPr lang="en-US" altLang="ko-KR" sz="2000" dirty="0" err="1"/>
              <a:t>GraphSAGE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FFF00"/>
                </a:highlight>
              </a:rPr>
              <a:t>GIN</a:t>
            </a:r>
            <a:r>
              <a:rPr lang="ko-KR" altLang="en-US" sz="2000" b="1" dirty="0">
                <a:highlight>
                  <a:srgbClr val="FFFF00"/>
                </a:highlight>
              </a:rPr>
              <a:t>을 이용한 그래프 분류</a:t>
            </a:r>
            <a:endParaRPr lang="en-US" altLang="ko-KR" sz="2000" b="1" dirty="0">
              <a:highlight>
                <a:srgbClr val="FF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GCN </a:t>
            </a:r>
            <a:r>
              <a:rPr lang="ko-KR" altLang="en-US" sz="2000" dirty="0"/>
              <a:t>레이어로 얻은 고전적인 전역 평균 </a:t>
            </a:r>
            <a:r>
              <a:rPr lang="ko-KR" altLang="en-US" sz="2000" dirty="0" err="1"/>
              <a:t>풀링을</a:t>
            </a:r>
            <a:r>
              <a:rPr lang="ko-KR" altLang="en-US" sz="2000" dirty="0"/>
              <a:t> 크게 능가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02522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1916</Words>
  <Application>Microsoft Office PowerPoint</Application>
  <PresentationFormat>와이드스크린</PresentationFormat>
  <Paragraphs>280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Noto Sans KR</vt:lpstr>
      <vt:lpstr>맑은 고딕</vt:lpstr>
      <vt:lpstr>Arial</vt:lpstr>
      <vt:lpstr>Office 테마</vt:lpstr>
      <vt:lpstr>핸즈온 그래프 인공신경망 Ch9. 그래프 분류를 위한 표현력 정의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추천 시스템 5장 지식 기반 추천 시스템</dc:title>
  <dc:creator>874</dc:creator>
  <cp:lastModifiedBy>DAVE LEE</cp:lastModifiedBy>
  <cp:revision>38</cp:revision>
  <dcterms:created xsi:type="dcterms:W3CDTF">2023-04-09T14:59:52Z</dcterms:created>
  <dcterms:modified xsi:type="dcterms:W3CDTF">2026-05-17T16:16:23Z</dcterms:modified>
</cp:coreProperties>
</file>